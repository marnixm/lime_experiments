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omments/comment2.xml" ContentType="application/vnd.openxmlformats-officedocument.presentationml.comment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2"/>
  </p:notesMasterIdLst>
  <p:sldIdLst>
    <p:sldId id="1152" r:id="rId2"/>
    <p:sldId id="1026" r:id="rId3"/>
    <p:sldId id="1131" r:id="rId4"/>
    <p:sldId id="1132" r:id="rId5"/>
    <p:sldId id="1047" r:id="rId6"/>
    <p:sldId id="1048" r:id="rId7"/>
    <p:sldId id="1049" r:id="rId8"/>
    <p:sldId id="944" r:id="rId9"/>
    <p:sldId id="1138" r:id="rId10"/>
    <p:sldId id="1145" r:id="rId11"/>
    <p:sldId id="1140" r:id="rId12"/>
    <p:sldId id="1146" r:id="rId13"/>
    <p:sldId id="1141" r:id="rId14"/>
    <p:sldId id="1150" r:id="rId15"/>
    <p:sldId id="1153" r:id="rId16"/>
    <p:sldId id="1142" r:id="rId17"/>
    <p:sldId id="1143" r:id="rId18"/>
    <p:sldId id="1134" r:id="rId19"/>
    <p:sldId id="1156" r:id="rId20"/>
    <p:sldId id="1158" r:id="rId21"/>
    <p:sldId id="1154" r:id="rId22"/>
    <p:sldId id="1159" r:id="rId23"/>
    <p:sldId id="1160" r:id="rId24"/>
    <p:sldId id="1155" r:id="rId25"/>
    <p:sldId id="1161" r:id="rId26"/>
    <p:sldId id="1162" r:id="rId27"/>
    <p:sldId id="1135" r:id="rId28"/>
    <p:sldId id="1165" r:id="rId29"/>
    <p:sldId id="1169" r:id="rId30"/>
    <p:sldId id="1166" r:id="rId31"/>
    <p:sldId id="1167" r:id="rId32"/>
    <p:sldId id="1170" r:id="rId33"/>
    <p:sldId id="1171" r:id="rId34"/>
    <p:sldId id="1172" r:id="rId35"/>
    <p:sldId id="1137" r:id="rId36"/>
    <p:sldId id="1168" r:id="rId37"/>
    <p:sldId id="1173" r:id="rId38"/>
    <p:sldId id="1174" r:id="rId39"/>
    <p:sldId id="1147" r:id="rId40"/>
    <p:sldId id="1149" r:id="rId41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as, Marnix" initials="MM" lastIdx="1" clrIdx="0">
    <p:extLst>
      <p:ext uri="{19B8F6BF-5375-455C-9EA6-DF929625EA0E}">
        <p15:presenceInfo xmlns:p15="http://schemas.microsoft.com/office/powerpoint/2012/main" userId="S::marnix.maas@accenture.com::f92e1d55-13e3-43f5-80ed-45d1ecf62407" providerId="AD"/>
      </p:ext>
    </p:extLst>
  </p:cmAuthor>
  <p:cmAuthor id="2" name="marnix maas" initials="mm" lastIdx="4" clrIdx="1">
    <p:extLst>
      <p:ext uri="{19B8F6BF-5375-455C-9EA6-DF929625EA0E}">
        <p15:presenceInfo xmlns:p15="http://schemas.microsoft.com/office/powerpoint/2012/main" userId="ee79b227f554deff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500"/>
    <a:srgbClr val="F8F9FD"/>
    <a:srgbClr val="FFD79D"/>
    <a:srgbClr val="FFD93A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EE55617-63FF-43D7-B3DA-208B107D82FB}" v="421" dt="2020-03-03T16:30:01.61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645" autoAdjust="0"/>
    <p:restoredTop sz="82173" autoAdjust="0"/>
  </p:normalViewPr>
  <p:slideViewPr>
    <p:cSldViewPr snapToGrid="0">
      <p:cViewPr>
        <p:scale>
          <a:sx n="66" d="100"/>
          <a:sy n="66" d="100"/>
        </p:scale>
        <p:origin x="1466" y="3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commentAuthors" Target="commentAuthors.xml"/><Relationship Id="rId48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2" dt="2020-03-03T16:32:17.412" idx="3">
    <p:pos x="10" y="10"/>
    <p:text>synthetic data?</p:text>
    <p:extLst>
      <p:ext uri="{C676402C-5697-4E1C-873F-D02D1690AC5C}">
        <p15:threadingInfo xmlns:p15="http://schemas.microsoft.com/office/powerpoint/2012/main" timeZoneBias="-60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2" dt="2020-03-03T16:40:20.179" idx="4">
    <p:pos x="3978" y="2545"/>
    <p:text>binary prediction</p:text>
    <p:extLst>
      <p:ext uri="{C676402C-5697-4E1C-873F-D02D1690AC5C}">
        <p15:threadingInfo xmlns:p15="http://schemas.microsoft.com/office/powerpoint/2012/main" timeZoneBias="-6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B8C93B-F95B-4DAF-97CB-8F24D72004DD}" type="datetimeFigureOut">
              <a:rPr lang="nl-NL" smtClean="0"/>
              <a:t>5-3-2020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812E8D-47C1-4826-A637-A5196888E16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964492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812E8D-47C1-4826-A637-A5196888E168}" type="slidenum">
              <a:rPr lang="nl-NL" smtClean="0"/>
              <a:t>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888649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-</a:t>
            </a:r>
            <a:r>
              <a:rPr lang="nl-NL" dirty="0" err="1"/>
              <a:t>If</a:t>
            </a:r>
            <a:r>
              <a:rPr lang="nl-NL" dirty="0"/>
              <a:t> we </a:t>
            </a:r>
            <a:r>
              <a:rPr lang="nl-NL" dirty="0" err="1"/>
              <a:t>can</a:t>
            </a:r>
            <a:r>
              <a:rPr lang="nl-NL" dirty="0"/>
              <a:t> show </a:t>
            </a:r>
            <a:r>
              <a:rPr lang="nl-NL" dirty="0" err="1"/>
              <a:t>it</a:t>
            </a:r>
            <a:r>
              <a:rPr lang="nl-NL" dirty="0"/>
              <a:t> is ‘</a:t>
            </a:r>
            <a:r>
              <a:rPr lang="nl-NL" dirty="0" err="1"/>
              <a:t>better</a:t>
            </a:r>
            <a:r>
              <a:rPr lang="nl-NL" dirty="0"/>
              <a:t>’ </a:t>
            </a:r>
            <a:r>
              <a:rPr lang="nl-NL" dirty="0" err="1"/>
              <a:t>than</a:t>
            </a:r>
            <a:r>
              <a:rPr lang="nl-NL" dirty="0"/>
              <a:t> </a:t>
            </a:r>
            <a:r>
              <a:rPr lang="nl-NL" dirty="0" err="1"/>
              <a:t>humans</a:t>
            </a:r>
            <a:endParaRPr lang="nl-NL" dirty="0"/>
          </a:p>
          <a:p>
            <a:r>
              <a:rPr lang="en-GB" dirty="0"/>
              <a:t>-neither can humans fully explain why they make a decision</a:t>
            </a:r>
          </a:p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812E8D-47C1-4826-A637-A5196888E168}" type="slidenum">
              <a:rPr lang="nl-NL" smtClean="0"/>
              <a:t>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380179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812E8D-47C1-4826-A637-A5196888E168}" type="slidenum">
              <a:rPr lang="nl-NL" smtClean="0"/>
              <a:t>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047045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 err="1"/>
              <a:t>Give</a:t>
            </a:r>
            <a:r>
              <a:rPr lang="nl-NL" dirty="0"/>
              <a:t> a summary of </a:t>
            </a:r>
            <a:r>
              <a:rPr lang="nl-NL" dirty="0" err="1"/>
              <a:t>what</a:t>
            </a:r>
            <a:r>
              <a:rPr lang="nl-NL" dirty="0"/>
              <a:t> I </a:t>
            </a:r>
            <a:r>
              <a:rPr lang="nl-NL" dirty="0" err="1"/>
              <a:t>just</a:t>
            </a:r>
            <a:r>
              <a:rPr lang="nl-NL" dirty="0"/>
              <a:t> </a:t>
            </a:r>
            <a:r>
              <a:rPr lang="nl-NL" dirty="0" err="1"/>
              <a:t>explained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812E8D-47C1-4826-A637-A5196888E168}" type="slidenum">
              <a:rPr lang="nl-NL" smtClean="0"/>
              <a:t>22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486836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 err="1"/>
              <a:t>Give</a:t>
            </a:r>
            <a:r>
              <a:rPr lang="nl-NL" dirty="0"/>
              <a:t> a summary of </a:t>
            </a:r>
            <a:r>
              <a:rPr lang="nl-NL" dirty="0" err="1"/>
              <a:t>what</a:t>
            </a:r>
            <a:r>
              <a:rPr lang="nl-NL" dirty="0"/>
              <a:t> I </a:t>
            </a:r>
            <a:r>
              <a:rPr lang="nl-NL" dirty="0" err="1"/>
              <a:t>just</a:t>
            </a:r>
            <a:r>
              <a:rPr lang="nl-NL" dirty="0"/>
              <a:t> </a:t>
            </a:r>
            <a:r>
              <a:rPr lang="nl-NL" dirty="0" err="1"/>
              <a:t>explained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812E8D-47C1-4826-A637-A5196888E168}" type="slidenum">
              <a:rPr lang="nl-NL" smtClean="0"/>
              <a:t>23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704057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812E8D-47C1-4826-A637-A5196888E168}" type="slidenum">
              <a:rPr lang="nl-NL" smtClean="0"/>
              <a:t>30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8800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812E8D-47C1-4826-A637-A5196888E168}" type="slidenum">
              <a:rPr lang="nl-NL" smtClean="0"/>
              <a:t>38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597448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7B3DFC-3EDA-45B4-9AA8-6587C626C7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F2CAF7-8E77-46F9-BC7B-922D21852B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565F7A-C54E-451D-B876-3F8F4D0F38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EE8601-8617-4695-9396-DD79FB5B1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B3D77F-6C4A-4B66-863A-7CD71FB98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023F8-DA26-43F2-AE62-B9DE0D0237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436609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3D4A7-4A71-4FAC-9077-A6B502DD37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25F9A2-40FD-4779-9B3F-CD8D976690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538AC7-9450-4B13-8FF1-62B71597CB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BB630C-EEBE-4B1E-B025-00726428A8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FA8342-3930-4B6F-8246-C5703F2026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023F8-DA26-43F2-AE62-B9DE0D0237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657757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60EA-1A9D-4913-AD16-1F5D6D9A9A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08748B-6D1B-4FF0-9E20-BBA41550C2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525AA2-4FE9-4AB6-A184-5A69748A2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31EE5E-4CB1-4294-BEA5-356DBC75CA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38BF2D-ADC6-4BD6-A96D-8C8A3A019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023F8-DA26-43F2-AE62-B9DE0D0237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01399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09774-2895-45C2-B9E7-B976553E3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D96DC2-F489-4AA6-A4A7-21E36DE2DE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1EB681-DC23-4B6F-8B8E-DBCB70885F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9137EB-65AE-4D01-A18F-5539A6076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562762-1BA3-4F91-859F-0AF1BB35F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53FBA-BB32-4799-B28C-B56D48BC2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023F8-DA26-43F2-AE62-B9DE0D0237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187028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87E82-D1D4-49EE-898F-D04D55CF5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BE56D3-C1FC-4A70-A78F-58BD6364C8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FA021E-B52E-4118-8644-0BC33FF8BF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8572C50-D883-4597-83C9-5E085003B6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9FFD1D-98EC-4BF1-8809-62FE9FA9C5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B6D5789-BFC0-401A-985D-1E09AA18B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8CCB192-C27F-4BB7-AD95-1EB5A3BB3F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C18872-A053-4D40-BB90-76F317F68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023F8-DA26-43F2-AE62-B9DE0D0237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345397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3B9F91-3F7A-4044-BED6-65EBED399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6FEE7C-78E1-4039-8FFC-F26884A171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251A37-148B-472D-8043-1F5500B0E4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E5E99D-AD4F-4D39-A5DD-EF3981D79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023F8-DA26-43F2-AE62-B9DE0D0237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2745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FC2817-23A0-465D-893D-BFB14C38B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31C8859-7A87-4BCB-92B6-D8908FD4E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525FC2-473B-46DE-A2DC-072788D31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023F8-DA26-43F2-AE62-B9DE0D0237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561687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270A7-C7E2-46A6-BE5E-7E28AE84A6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793F57-C19F-4054-88BB-3020802874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9E1D94-2CAB-4654-A8FF-AB5A3626A1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116547-867A-4C26-8EC5-1C307D4F33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7F5DE7-D553-43E0-97C4-AD1B87271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6D60BB-9A08-4216-8E41-EB43A78FF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023F8-DA26-43F2-AE62-B9DE0D0237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048081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8B77A-43D5-4552-BFDD-D0E58B5E5F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EB3207-2757-475B-B9B2-52CAB4DB5C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BF01A9-59EE-4F6E-A40C-ECDE57A4F9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6B9613-9F0E-4D3F-A79D-11A000D4A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2114BD-6F8D-4D5C-A903-D8589C1CDE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FC35D0-EC01-48EB-943F-4B40B39D3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023F8-DA26-43F2-AE62-B9DE0D0237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27965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AFB84-18A0-414D-8266-86E02D1698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ED100C-0C92-4A01-BA4D-FE9AC1FC85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F46E0D-6869-4189-99E7-2EEBC4F0BE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59F4F5-729B-47EF-9DCE-6C2EE169F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C271BA-9C70-4CA3-B0EC-380190B45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023F8-DA26-43F2-AE62-B9DE0D0237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346947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38A653-6637-4B85-A7B3-CF303AEF493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301E71-080E-4967-B655-447ECAB759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A8AB43-8513-4E5F-932D-91C537DA4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433864-7987-4E66-82B6-E4EE05EF4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3801D0-9CC7-483B-B202-E664D8961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023F8-DA26-43F2-AE62-B9DE0D0237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8637346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over 3.1 — Dimensional Pos &gt;">
    <p:bg>
      <p:bgPr>
        <a:solidFill>
          <a:schemeClr val="accent1">
            <a:lumMod val="20000"/>
            <a:lumOff val="80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/>
          <p:cNvPicPr>
            <a:picLocks noChangeAspect="1"/>
          </p:cNvPicPr>
          <p:nvPr userDrawn="1"/>
        </p:nvPicPr>
        <p:blipFill rotWithShape="1">
          <a:blip r:embed="rId2" cstate="screen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3415" b="9908"/>
          <a:stretch/>
        </p:blipFill>
        <p:spPr>
          <a:xfrm>
            <a:off x="3321983" y="-1"/>
            <a:ext cx="8626155" cy="6858001"/>
          </a:xfrm>
          <a:prstGeom prst="rect">
            <a:avLst/>
          </a:prstGeom>
        </p:spPr>
      </p:pic>
      <p:sp>
        <p:nvSpPr>
          <p:cNvPr id="8" name="MasterTitle"/>
          <p:cNvSpPr>
            <a:spLocks noGrp="1"/>
          </p:cNvSpPr>
          <p:nvPr userDrawn="1">
            <p:ph type="title" hasCustomPrompt="1"/>
          </p:nvPr>
        </p:nvSpPr>
        <p:spPr>
          <a:xfrm>
            <a:off x="675514" y="2198083"/>
            <a:ext cx="9668282" cy="2769028"/>
          </a:xfrm>
        </p:spPr>
        <p:txBody>
          <a:bodyPr wrap="square" tIns="182880" anchor="ctr" anchorCtr="0">
            <a:spAutoFit/>
          </a:bodyPr>
          <a:lstStyle>
            <a:lvl1pPr algn="l">
              <a:lnSpc>
                <a:spcPts val="9498"/>
              </a:lnSpc>
              <a:defRPr sz="11998" b="0" i="0" spc="-3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THREE STACKED HEADLINE</a:t>
            </a:r>
            <a:endParaRPr lang="en-AU" dirty="0"/>
          </a:p>
        </p:txBody>
      </p:sp>
      <p:pic>
        <p:nvPicPr>
          <p:cNvPr id="12" name="Acc_MobilityBLACK" hidden="1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827" y="541385"/>
            <a:ext cx="3430214" cy="527557"/>
          </a:xfrm>
          <a:prstGeom prst="rect">
            <a:avLst/>
          </a:prstGeom>
        </p:spPr>
      </p:pic>
      <p:pic>
        <p:nvPicPr>
          <p:cNvPr id="13" name="Acc_InteractiveBLACK" hidden="1"/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486" y="551413"/>
            <a:ext cx="3443260" cy="518866"/>
          </a:xfrm>
          <a:prstGeom prst="rect">
            <a:avLst/>
          </a:prstGeom>
        </p:spPr>
      </p:pic>
      <p:pic>
        <p:nvPicPr>
          <p:cNvPr id="14" name="Acc_AnalyticsBLACK" hidden="1"/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6099" y="541708"/>
            <a:ext cx="3428941" cy="528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52480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68">
          <p15:clr>
            <a:srgbClr val="5ACBF0"/>
          </p15:clr>
        </p15:guide>
        <p15:guide id="2" pos="709">
          <p15:clr>
            <a:srgbClr val="5ACBF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ver 3.1 — Dimensional Pos &gt;">
    <p:bg>
      <p:bgPr>
        <a:solidFill>
          <a:schemeClr val="accent1">
            <a:lumMod val="20000"/>
            <a:lumOff val="80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C74C653A-6981-4F16-B277-C5F25480BA8E}"/>
              </a:ext>
            </a:extLst>
          </p:cNvPr>
          <p:cNvSpPr/>
          <p:nvPr userDrawn="1"/>
        </p:nvSpPr>
        <p:spPr>
          <a:xfrm>
            <a:off x="838200" y="1254007"/>
            <a:ext cx="3600000" cy="28800"/>
          </a:xfrm>
          <a:prstGeom prst="rect">
            <a:avLst/>
          </a:prstGeom>
          <a:solidFill>
            <a:srgbClr val="FF9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2" name="Acc_MobilityBLACK" hidden="1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827" y="541385"/>
            <a:ext cx="3430214" cy="527557"/>
          </a:xfrm>
          <a:prstGeom prst="rect">
            <a:avLst/>
          </a:prstGeom>
        </p:spPr>
      </p:pic>
      <p:pic>
        <p:nvPicPr>
          <p:cNvPr id="13" name="Acc_InteractiveBLACK" hidden="1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486" y="551413"/>
            <a:ext cx="3443260" cy="518866"/>
          </a:xfrm>
          <a:prstGeom prst="rect">
            <a:avLst/>
          </a:prstGeom>
        </p:spPr>
      </p:pic>
      <p:pic>
        <p:nvPicPr>
          <p:cNvPr id="14" name="Acc_AnalyticsBLACK" hidden="1"/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6099" y="541708"/>
            <a:ext cx="3428941" cy="528482"/>
          </a:xfrm>
          <a:prstGeom prst="rect">
            <a:avLst/>
          </a:prstGeom>
        </p:spPr>
      </p:pic>
      <p:pic>
        <p:nvPicPr>
          <p:cNvPr id="34" name="Acc_DigitalBLACK"/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40895" y="5888218"/>
            <a:ext cx="2579389" cy="499527"/>
          </a:xfrm>
          <a:prstGeom prst="rect">
            <a:avLst/>
          </a:prstGeom>
        </p:spPr>
      </p:pic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022FE8B-D694-4678-BC51-B270B0CB36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nl-NL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EDF83913-5DE7-4B6D-822B-928E94DAC8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nl-NL" dirty="0"/>
          </a:p>
        </p:txBody>
      </p:sp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337C575E-2010-432C-B7A5-7745AC0E9D9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5427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6968">
          <p15:clr>
            <a:srgbClr val="5ACBF0"/>
          </p15:clr>
        </p15:guide>
        <p15:guide id="2" pos="709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Blank 1.6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4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35"/>
          </p:nvPr>
        </p:nvSpPr>
        <p:spPr/>
        <p:txBody>
          <a:bodyPr/>
          <a:lstStyle/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10365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 1.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5"/>
          <p:cNvSpPr>
            <a:spLocks noGrp="1"/>
          </p:cNvSpPr>
          <p:nvPr>
            <p:ph type="body" sz="quarter" idx="35" hasCustomPrompt="1"/>
          </p:nvPr>
        </p:nvSpPr>
        <p:spPr>
          <a:xfrm>
            <a:off x="877289" y="4543961"/>
            <a:ext cx="6403301" cy="535531"/>
          </a:xfrm>
        </p:spPr>
        <p:txBody>
          <a:bodyPr wrap="square" anchor="t">
            <a:spAutoFit/>
          </a:bodyPr>
          <a:lstStyle>
            <a:lvl1pPr marL="0" marR="0" indent="0" algn="l" defTabSz="914217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Arial" pitchFamily="34" charset="0"/>
              <a:buNone/>
              <a:tabLst/>
              <a:defRPr sz="1600" b="0" i="0" cap="all" baseline="0">
                <a:solidFill>
                  <a:schemeClr val="tx1"/>
                </a:solidFill>
                <a:latin typeface="Graphik Regular" panose="020B0503030202060203" pitchFamily="34" charset="77"/>
              </a:defRPr>
            </a:lvl1pPr>
            <a:lvl2pPr algn="ctr">
              <a:defRPr sz="4399" b="1">
                <a:latin typeface="Arial Black" panose="020B0A04020102020204" pitchFamily="34" charset="0"/>
              </a:defRPr>
            </a:lvl2pPr>
            <a:lvl3pPr algn="ctr">
              <a:defRPr sz="4399" b="1">
                <a:latin typeface="Arial Black" panose="020B0A04020102020204" pitchFamily="34" charset="0"/>
              </a:defRPr>
            </a:lvl3pPr>
            <a:lvl4pPr algn="ctr">
              <a:defRPr sz="4399" b="1">
                <a:latin typeface="Arial Black" panose="020B0A04020102020204" pitchFamily="34" charset="0"/>
              </a:defRPr>
            </a:lvl4pPr>
            <a:lvl5pPr algn="ctr">
              <a:defRPr sz="4399" b="1">
                <a:latin typeface="Arial Black" panose="020B0A04020102020204" pitchFamily="34" charset="0"/>
              </a:defRPr>
            </a:lvl5pPr>
          </a:lstStyle>
          <a:p>
            <a:r>
              <a:rPr lang="en-US" dirty="0"/>
              <a:t>INSERT AUTHOR’S DETAILS HERE.</a:t>
            </a:r>
            <a:br>
              <a:rPr lang="en-US" dirty="0"/>
            </a:br>
            <a:r>
              <a:rPr lang="en-US" dirty="0"/>
              <a:t>UPPERCASE, maximum 3 lines at 16pt, MINIMUM 14PT. 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37"/>
          </p:nvPr>
        </p:nvSpPr>
        <p:spPr/>
        <p:txBody>
          <a:bodyPr/>
          <a:lstStyle/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0" name="Title 3">
            <a:extLst>
              <a:ext uri="{FF2B5EF4-FFF2-40B4-BE49-F238E27FC236}">
                <a16:creationId xmlns:a16="http://schemas.microsoft.com/office/drawing/2014/main" id="{9D829198-6736-E442-BFA2-66C486E2BE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7289" y="2272934"/>
            <a:ext cx="10430983" cy="1661224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3999" b="0" i="0">
                <a:ea typeface="Roboto" panose="02000000000000000000" pitchFamily="2" charset="0"/>
              </a:defRPr>
            </a:lvl1pPr>
          </a:lstStyle>
          <a:p>
            <a:pPr marL="0" marR="0" lvl="0" indent="0" defTabSz="914217" latinLnBrk="0">
              <a:spcBef>
                <a:spcPts val="800"/>
              </a:spcBef>
              <a:buClrTx/>
              <a:buSzTx/>
              <a:buFont typeface="Arial" pitchFamily="34" charset="0"/>
              <a:buNone/>
              <a:tabLst/>
            </a:pPr>
            <a:r>
              <a:rPr lang="en-US" dirty="0"/>
              <a:t>INSERT QUOTE at 40pt min 36pt MAX 4 LINES AS SE ENIOLESTOTATE CON RAERUM ES INI EREPUDI ODIT EHENDIAM EUM.</a:t>
            </a:r>
          </a:p>
        </p:txBody>
      </p:sp>
    </p:spTree>
    <p:extLst>
      <p:ext uri="{BB962C8B-B14F-4D97-AF65-F5344CB8AC3E}">
        <p14:creationId xmlns:p14="http://schemas.microsoft.com/office/powerpoint/2010/main" val="314432144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 1.5">
    <p:bg>
      <p:bgPr>
        <a:solidFill>
          <a:schemeClr val="accent1">
            <a:lumMod val="20000"/>
            <a:lumOff val="80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5"/>
          <p:cNvSpPr>
            <a:spLocks noGrp="1"/>
          </p:cNvSpPr>
          <p:nvPr>
            <p:ph type="body" sz="quarter" idx="35" hasCustomPrompt="1"/>
          </p:nvPr>
        </p:nvSpPr>
        <p:spPr>
          <a:xfrm>
            <a:off x="1383924" y="1618900"/>
            <a:ext cx="3823156" cy="997004"/>
          </a:xfrm>
        </p:spPr>
        <p:txBody>
          <a:bodyPr wrap="square" anchor="t">
            <a:spAutoFit/>
          </a:bodyPr>
          <a:lstStyle>
            <a:lvl1pPr marL="0" marR="0" indent="0" algn="r" defTabSz="914217" rtl="0" eaLnBrk="1" fontAlgn="base" latinLnBrk="0" hangingPunct="1">
              <a:lnSpc>
                <a:spcPct val="7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Arial" pitchFamily="34" charset="0"/>
              <a:buNone/>
              <a:tabLst/>
              <a:defRPr sz="2799" b="1" i="0" cap="all" baseline="0">
                <a:solidFill>
                  <a:schemeClr val="tx1"/>
                </a:solidFill>
                <a:latin typeface="Graphik" panose="020B0503030202060203" pitchFamily="34" charset="77"/>
                <a:cs typeface="Graphik" panose="020B0503030202060203" pitchFamily="34" charset="77"/>
              </a:defRPr>
            </a:lvl1pPr>
            <a:lvl2pPr algn="ctr">
              <a:defRPr sz="4399" b="1">
                <a:latin typeface="Arial Black" panose="020B0A04020102020204" pitchFamily="34" charset="0"/>
              </a:defRPr>
            </a:lvl2pPr>
            <a:lvl3pPr algn="ctr">
              <a:defRPr sz="4399" b="1">
                <a:latin typeface="Arial Black" panose="020B0A04020102020204" pitchFamily="34" charset="0"/>
              </a:defRPr>
            </a:lvl3pPr>
            <a:lvl4pPr algn="ctr">
              <a:defRPr sz="4399" b="1">
                <a:latin typeface="Arial Black" panose="020B0A04020102020204" pitchFamily="34" charset="0"/>
              </a:defRPr>
            </a:lvl4pPr>
            <a:lvl5pPr algn="ctr">
              <a:defRPr sz="4399" b="1">
                <a:latin typeface="Arial Black" panose="020B0A04020102020204" pitchFamily="34" charset="0"/>
              </a:defRPr>
            </a:lvl5pPr>
          </a:lstStyle>
          <a:p>
            <a:r>
              <a:rPr lang="en-US" dirty="0"/>
              <a:t>THIS CONTENT CAN TEE UP A QUOTE OR PROVIDE CONTEXT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37"/>
          </p:nvPr>
        </p:nvSpPr>
        <p:spPr/>
        <p:txBody>
          <a:bodyPr/>
          <a:lstStyle/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F046CC2E-2457-E44F-A954-34A3F7FEAC73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5530765" y="5388080"/>
            <a:ext cx="3823156" cy="243143"/>
          </a:xfrm>
        </p:spPr>
        <p:txBody>
          <a:bodyPr wrap="square" anchor="t">
            <a:spAutoFit/>
          </a:bodyPr>
          <a:lstStyle>
            <a:lvl1pPr marL="0" marR="0" indent="0" algn="l" defTabSz="914217" rtl="0" eaLnBrk="1" fontAlgn="base" latinLnBrk="0" hangingPunct="1">
              <a:lnSpc>
                <a:spcPct val="7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Arial" pitchFamily="34" charset="0"/>
              <a:buNone/>
              <a:tabLst/>
              <a:defRPr sz="1400" b="1" i="0" cap="all" baseline="0">
                <a:solidFill>
                  <a:schemeClr val="tx1"/>
                </a:solidFill>
                <a:latin typeface="Graphik" panose="020B0503030202060203" pitchFamily="34" charset="77"/>
                <a:cs typeface="Graphik" panose="020B0503030202060203" pitchFamily="34" charset="77"/>
              </a:defRPr>
            </a:lvl1pPr>
            <a:lvl2pPr algn="ctr">
              <a:defRPr sz="4399" b="1">
                <a:latin typeface="Arial Black" panose="020B0A04020102020204" pitchFamily="34" charset="0"/>
              </a:defRPr>
            </a:lvl2pPr>
            <a:lvl3pPr algn="ctr">
              <a:defRPr sz="4399" b="1">
                <a:latin typeface="Arial Black" panose="020B0A04020102020204" pitchFamily="34" charset="0"/>
              </a:defRPr>
            </a:lvl3pPr>
            <a:lvl4pPr algn="ctr">
              <a:defRPr sz="4399" b="1">
                <a:latin typeface="Arial Black" panose="020B0A04020102020204" pitchFamily="34" charset="0"/>
              </a:defRPr>
            </a:lvl4pPr>
            <a:lvl5pPr algn="ctr">
              <a:defRPr sz="4399" b="1">
                <a:latin typeface="Arial Black" panose="020B0A04020102020204" pitchFamily="34" charset="0"/>
              </a:defRPr>
            </a:lvl5pPr>
          </a:lstStyle>
          <a:p>
            <a:r>
              <a:rPr lang="en-US" dirty="0"/>
              <a:t>- QUOTE ATTRIBUTION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8ACA6EA-CE92-8441-A0B2-3799A12337F9}"/>
              </a:ext>
            </a:extLst>
          </p:cNvPr>
          <p:cNvCxnSpPr/>
          <p:nvPr userDrawn="1"/>
        </p:nvCxnSpPr>
        <p:spPr>
          <a:xfrm>
            <a:off x="5361885" y="1618899"/>
            <a:ext cx="0" cy="3618614"/>
          </a:xfrm>
          <a:prstGeom prst="line">
            <a:avLst/>
          </a:prstGeom>
          <a:ln w="57150" cmpd="sng">
            <a:solidFill>
              <a:schemeClr val="tx1"/>
            </a:solidFill>
            <a:prstDash val="solid"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itle 3">
            <a:extLst>
              <a:ext uri="{FF2B5EF4-FFF2-40B4-BE49-F238E27FC236}">
                <a16:creationId xmlns:a16="http://schemas.microsoft.com/office/drawing/2014/main" id="{0CC275B2-D33C-9C44-B37F-5F09CDA514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30765" y="1618900"/>
            <a:ext cx="5293863" cy="2617675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4799" b="0" i="0" spc="-150" dirty="0">
                <a:ea typeface="Roboto" panose="02000000000000000000" pitchFamily="2" charset="0"/>
              </a:defRPr>
            </a:lvl1pPr>
          </a:lstStyle>
          <a:p>
            <a:pPr marL="0" marR="0" lvl="0" indent="0" defTabSz="914217" latinLnBrk="0">
              <a:lnSpc>
                <a:spcPct val="70000"/>
              </a:lnSpc>
              <a:spcBef>
                <a:spcPts val="800"/>
              </a:spcBef>
              <a:buClrTx/>
              <a:buSzTx/>
              <a:buFont typeface="Arial" pitchFamily="34" charset="0"/>
              <a:buNone/>
              <a:tabLst/>
            </a:pPr>
            <a:r>
              <a:rPr lang="en-US" dirty="0"/>
              <a:t>“THIS IS A BRIEF BUT IMPACTFUL QUOTE THAT CAN ALSO INCLUDE COLOR TO MAKE YOUR POINT.”</a:t>
            </a:r>
          </a:p>
        </p:txBody>
      </p:sp>
    </p:spTree>
    <p:extLst>
      <p:ext uri="{BB962C8B-B14F-4D97-AF65-F5344CB8AC3E}">
        <p14:creationId xmlns:p14="http://schemas.microsoft.com/office/powerpoint/2010/main" val="41442715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Blank 1.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34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35"/>
          </p:nvPr>
        </p:nvSpPr>
        <p:spPr/>
        <p:txBody>
          <a:bodyPr/>
          <a:lstStyle/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938769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Divider 1.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Acc_MobilityBLACK" hidden="1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827" y="541385"/>
            <a:ext cx="3430214" cy="527557"/>
          </a:xfrm>
          <a:prstGeom prst="rect">
            <a:avLst/>
          </a:prstGeom>
        </p:spPr>
      </p:pic>
      <p:pic>
        <p:nvPicPr>
          <p:cNvPr id="13" name="Acc_InteractiveBLACK" hidden="1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486" y="551413"/>
            <a:ext cx="3443260" cy="518866"/>
          </a:xfrm>
          <a:prstGeom prst="rect">
            <a:avLst/>
          </a:prstGeom>
        </p:spPr>
      </p:pic>
      <p:pic>
        <p:nvPicPr>
          <p:cNvPr id="14" name="Acc_AnalyticsBLACK" hidden="1"/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6099" y="541708"/>
            <a:ext cx="3428941" cy="52848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1EC0C07-9CB6-574A-8F51-81F43A6FE0B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40897" y="376241"/>
            <a:ext cx="2579388" cy="513630"/>
          </a:xfrm>
          <a:prstGeom prst="rect">
            <a:avLst/>
          </a:prstGeom>
        </p:spPr>
      </p:pic>
      <p:sp>
        <p:nvSpPr>
          <p:cNvPr id="19" name="Footer Placeholder 1">
            <a:extLst>
              <a:ext uri="{FF2B5EF4-FFF2-40B4-BE49-F238E27FC236}">
                <a16:creationId xmlns:a16="http://schemas.microsoft.com/office/drawing/2014/main" id="{195CDC40-048A-8746-ADDA-3014F13E384D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>
          <a:xfrm>
            <a:off x="7391584" y="6537399"/>
            <a:ext cx="4141956" cy="161962"/>
          </a:xfrm>
        </p:spPr>
        <p:txBody>
          <a:bodyPr/>
          <a:lstStyle>
            <a:lvl1pPr>
              <a:defRPr>
                <a:solidFill>
                  <a:schemeClr val="tx1">
                    <a:alpha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167B18B3-4437-9A40-B389-7901B78FAAA7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>
          <a:xfrm flipH="1">
            <a:off x="11617001" y="6537474"/>
            <a:ext cx="216084" cy="161888"/>
          </a:xfrm>
        </p:spPr>
        <p:txBody>
          <a:bodyPr/>
          <a:lstStyle>
            <a:lvl1pPr>
              <a:defRPr>
                <a:solidFill>
                  <a:schemeClr val="tx1">
                    <a:alpha val="50000"/>
                  </a:schemeClr>
                </a:solidFill>
              </a:defRPr>
            </a:lvl1pPr>
          </a:lstStyle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26" name="Text Placeholder 45">
            <a:extLst>
              <a:ext uri="{FF2B5EF4-FFF2-40B4-BE49-F238E27FC236}">
                <a16:creationId xmlns:a16="http://schemas.microsoft.com/office/drawing/2014/main" id="{8031E14C-5117-A446-9A05-8417A3777E2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8565" y="3447509"/>
            <a:ext cx="5273663" cy="987196"/>
          </a:xfrm>
        </p:spPr>
        <p:txBody>
          <a:bodyPr/>
          <a:lstStyle>
            <a:lvl1pPr>
              <a:lnSpc>
                <a:spcPct val="100000"/>
              </a:lnSpc>
              <a:defRPr sz="2799" b="0" i="0">
                <a:latin typeface="Graphik" panose="020B0503030202060203" pitchFamily="34" charset="77"/>
              </a:defRPr>
            </a:lvl1pPr>
          </a:lstStyle>
          <a:p>
            <a:r>
              <a:rPr lang="en-AU" dirty="0"/>
              <a:t>Lorem ipsum </a:t>
            </a:r>
            <a:r>
              <a:rPr lang="en-AU" dirty="0" err="1"/>
              <a:t>dolor</a:t>
            </a:r>
            <a:r>
              <a:rPr lang="en-AU" dirty="0"/>
              <a:t> sit </a:t>
            </a:r>
            <a:r>
              <a:rPr lang="en-AU" dirty="0" err="1"/>
              <a:t>amet</a:t>
            </a:r>
            <a:r>
              <a:rPr lang="en-AU" dirty="0"/>
              <a:t>. Some text goes here.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ED74A2E-FDCF-6447-A560-EE24247F7FB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8564" y="2652012"/>
            <a:ext cx="7398714" cy="850033"/>
          </a:xfrm>
        </p:spPr>
        <p:txBody>
          <a:bodyPr anchor="b">
            <a:noAutofit/>
          </a:bodyPr>
          <a:lstStyle>
            <a:lvl1pPr>
              <a:lnSpc>
                <a:spcPct val="70000"/>
              </a:lnSpc>
              <a:defRPr sz="6799" b="0" i="0">
                <a:latin typeface="Graphik Black" panose="020B0503030202060203" pitchFamily="34" charset="77"/>
              </a:defRPr>
            </a:lvl1pPr>
          </a:lstStyle>
          <a:p>
            <a:r>
              <a:rPr lang="en-US" dirty="0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3517478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68">
          <p15:clr>
            <a:srgbClr val="5ACBF0"/>
          </p15:clr>
        </p15:guide>
        <p15:guide id="2" pos="709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AEF02B-7173-46B2-BC8F-CB2C8C168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8944BE-3339-400B-89B5-700F86E5A6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D84503-E820-4B8A-BD0E-A589A3F476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FC09FF-170F-4713-A43F-66424599E0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FA5E3C-F303-46BA-974D-BE4E966DA6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2023F8-DA26-43F2-AE62-B9DE0D0237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816003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9" r:id="rId13"/>
    <p:sldLayoutId id="2147483662" r:id="rId14"/>
    <p:sldLayoutId id="2147483663" r:id="rId15"/>
    <p:sldLayoutId id="2147483664" r:id="rId16"/>
    <p:sldLayoutId id="2147483666" r:id="rId17"/>
    <p:sldLayoutId id="2147483668" r:id="rId18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14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14.sv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github.com/slundberg/shap" TargetMode="Externa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arcotcr/lime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arcotcr/lime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1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2.xml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A6E59192-557A-46EA-A98B-4A8D3DD60B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0495" y="1499449"/>
            <a:ext cx="7998645" cy="385910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F224F0A-C582-495D-AF89-AF51E1A5C26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691" y="975179"/>
            <a:ext cx="2643341" cy="764091"/>
          </a:xfrm>
          <a:prstGeom prst="rect">
            <a:avLst/>
          </a:prstGeom>
        </p:spPr>
      </p:pic>
      <p:pic>
        <p:nvPicPr>
          <p:cNvPr id="7" name="Acc_DigitalBLACK">
            <a:extLst>
              <a:ext uri="{FF2B5EF4-FFF2-40B4-BE49-F238E27FC236}">
                <a16:creationId xmlns:a16="http://schemas.microsoft.com/office/drawing/2014/main" id="{0654672C-C36C-493B-83D7-A9F02BCE54ED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5691" y="1987048"/>
            <a:ext cx="2579389" cy="499527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D2519A2-9453-4015-991D-3302FE310A16}"/>
              </a:ext>
            </a:extLst>
          </p:cNvPr>
          <p:cNvCxnSpPr/>
          <p:nvPr/>
        </p:nvCxnSpPr>
        <p:spPr>
          <a:xfrm>
            <a:off x="4076236" y="1619693"/>
            <a:ext cx="0" cy="3618614"/>
          </a:xfrm>
          <a:prstGeom prst="line">
            <a:avLst/>
          </a:prstGeom>
          <a:ln w="57150" cmpd="sng">
            <a:solidFill>
              <a:schemeClr val="tx1"/>
            </a:solidFill>
            <a:prstDash val="solid"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3398762C-B883-4E7C-952A-21179167CEDD}"/>
              </a:ext>
            </a:extLst>
          </p:cNvPr>
          <p:cNvSpPr/>
          <p:nvPr/>
        </p:nvSpPr>
        <p:spPr>
          <a:xfrm>
            <a:off x="733160" y="4670076"/>
            <a:ext cx="2796847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000" dirty="0">
                <a:latin typeface="Graphik Black"/>
              </a:rPr>
              <a:t>Author	 Marnix Maas</a:t>
            </a:r>
          </a:p>
          <a:p>
            <a:r>
              <a:rPr lang="en-GB" sz="2000" dirty="0">
                <a:latin typeface="Graphik Black"/>
              </a:rPr>
              <a:t>Date 	 6</a:t>
            </a:r>
            <a:r>
              <a:rPr lang="en-GB" sz="2000" baseline="30000" dirty="0">
                <a:latin typeface="Graphik Black"/>
              </a:rPr>
              <a:t>th</a:t>
            </a:r>
            <a:r>
              <a:rPr lang="en-GB" sz="2000" dirty="0">
                <a:latin typeface="Graphik Black"/>
              </a:rPr>
              <a:t> March 2020</a:t>
            </a:r>
          </a:p>
        </p:txBody>
      </p:sp>
    </p:spTree>
    <p:extLst>
      <p:ext uri="{BB962C8B-B14F-4D97-AF65-F5344CB8AC3E}">
        <p14:creationId xmlns:p14="http://schemas.microsoft.com/office/powerpoint/2010/main" val="17410317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9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2">
            <a:extLst>
              <a:ext uri="{FF2B5EF4-FFF2-40B4-BE49-F238E27FC236}">
                <a16:creationId xmlns:a16="http://schemas.microsoft.com/office/drawing/2014/main" id="{4A8B7C58-B337-CB40-A3E4-673AC778FDAB}"/>
              </a:ext>
            </a:extLst>
          </p:cNvPr>
          <p:cNvSpPr txBox="1">
            <a:spLocks/>
          </p:cNvSpPr>
          <p:nvPr/>
        </p:nvSpPr>
        <p:spPr>
          <a:xfrm>
            <a:off x="6524825" y="1877849"/>
            <a:ext cx="2302930" cy="60152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rtl="0" eaLnBrk="1" fontAlgn="base" hangingPunct="1">
              <a:lnSpc>
                <a:spcPct val="110000"/>
              </a:lnSpc>
              <a:spcBef>
                <a:spcPts val="1200"/>
              </a:spcBef>
              <a:spcAft>
                <a:spcPct val="0"/>
              </a:spcAft>
              <a:buFont typeface="Arial" pitchFamily="34" charset="0"/>
              <a:buNone/>
              <a:defRPr lang="en-US" sz="1600" b="0" i="0" kern="1200" dirty="0">
                <a:solidFill>
                  <a:schemeClr val="bg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216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432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‒"/>
              <a:tabLst/>
              <a:defRPr sz="1800" b="0" i="0" kern="1200">
                <a:solidFill>
                  <a:schemeClr val="tx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612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864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‒"/>
              <a:defRPr sz="1800" b="0" i="0" kern="1200">
                <a:solidFill>
                  <a:schemeClr val="tx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3351933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1376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0819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0261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</a:pPr>
            <a:r>
              <a:rPr lang="en-US" dirty="0">
                <a:solidFill>
                  <a:schemeClr val="tx1"/>
                </a:solidFill>
              </a:rPr>
              <a:t>Introduction</a:t>
            </a:r>
          </a:p>
          <a:p>
            <a:pPr>
              <a:lnSpc>
                <a:spcPct val="90000"/>
              </a:lnSpc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Text Placeholder 23">
            <a:extLst>
              <a:ext uri="{FF2B5EF4-FFF2-40B4-BE49-F238E27FC236}">
                <a16:creationId xmlns:a16="http://schemas.microsoft.com/office/drawing/2014/main" id="{ECBCD90C-7A87-1543-B33F-85190C5AFDE3}"/>
              </a:ext>
            </a:extLst>
          </p:cNvPr>
          <p:cNvSpPr txBox="1">
            <a:spLocks/>
          </p:cNvSpPr>
          <p:nvPr/>
        </p:nvSpPr>
        <p:spPr>
          <a:xfrm>
            <a:off x="9146567" y="1877849"/>
            <a:ext cx="2302930" cy="60152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rtl="0" eaLnBrk="1" fontAlgn="base" hangingPunct="1">
              <a:lnSpc>
                <a:spcPct val="110000"/>
              </a:lnSpc>
              <a:spcBef>
                <a:spcPts val="1200"/>
              </a:spcBef>
              <a:spcAft>
                <a:spcPct val="0"/>
              </a:spcAft>
              <a:buFont typeface="Arial" pitchFamily="34" charset="0"/>
              <a:buNone/>
              <a:defRPr lang="en-US" sz="1600" b="0" i="0" kern="1200" dirty="0">
                <a:solidFill>
                  <a:schemeClr val="bg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216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432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‒"/>
              <a:tabLst/>
              <a:defRPr sz="1800" b="0" i="0" kern="1200">
                <a:solidFill>
                  <a:schemeClr val="tx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612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864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‒"/>
              <a:defRPr sz="1800" b="0" i="0" kern="1200">
                <a:solidFill>
                  <a:schemeClr val="tx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3351933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1376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0819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0261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</a:pPr>
            <a:r>
              <a:rPr lang="en-US" dirty="0">
                <a:solidFill>
                  <a:schemeClr val="tx1"/>
                </a:solidFill>
              </a:rPr>
              <a:t>Methods</a:t>
            </a:r>
          </a:p>
        </p:txBody>
      </p:sp>
      <p:sp>
        <p:nvSpPr>
          <p:cNvPr id="5" name="Text Placeholder 25">
            <a:extLst>
              <a:ext uri="{FF2B5EF4-FFF2-40B4-BE49-F238E27FC236}">
                <a16:creationId xmlns:a16="http://schemas.microsoft.com/office/drawing/2014/main" id="{96CCD06E-C018-1A4F-A3A5-C5634F774C21}"/>
              </a:ext>
            </a:extLst>
          </p:cNvPr>
          <p:cNvSpPr txBox="1">
            <a:spLocks/>
          </p:cNvSpPr>
          <p:nvPr/>
        </p:nvSpPr>
        <p:spPr>
          <a:xfrm>
            <a:off x="6524825" y="3795952"/>
            <a:ext cx="1545287" cy="60152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rtl="0" eaLnBrk="1" fontAlgn="base" hangingPunct="1">
              <a:lnSpc>
                <a:spcPct val="110000"/>
              </a:lnSpc>
              <a:spcBef>
                <a:spcPts val="1200"/>
              </a:spcBef>
              <a:spcAft>
                <a:spcPct val="0"/>
              </a:spcAft>
              <a:buFont typeface="Arial" pitchFamily="34" charset="0"/>
              <a:buNone/>
              <a:defRPr lang="en-US" sz="1600" b="0" i="0" kern="1200" dirty="0">
                <a:solidFill>
                  <a:schemeClr val="bg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216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432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‒"/>
              <a:tabLst/>
              <a:defRPr sz="1800" b="0" i="0" kern="1200">
                <a:solidFill>
                  <a:schemeClr val="tx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612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864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‒"/>
              <a:defRPr sz="1800" b="0" i="0" kern="1200">
                <a:solidFill>
                  <a:schemeClr val="tx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3351933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1376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0819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0261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</a:pPr>
            <a:r>
              <a:rPr lang="en-US" dirty="0">
                <a:solidFill>
                  <a:schemeClr val="tx1"/>
                </a:solidFill>
              </a:rPr>
              <a:t>Experimental setup</a:t>
            </a:r>
          </a:p>
          <a:p>
            <a:pPr>
              <a:lnSpc>
                <a:spcPct val="90000"/>
              </a:lnSpc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Text Placeholder 26">
            <a:extLst>
              <a:ext uri="{FF2B5EF4-FFF2-40B4-BE49-F238E27FC236}">
                <a16:creationId xmlns:a16="http://schemas.microsoft.com/office/drawing/2014/main" id="{0F634F76-387D-9D48-9388-5E0FEF300497}"/>
              </a:ext>
            </a:extLst>
          </p:cNvPr>
          <p:cNvSpPr txBox="1">
            <a:spLocks/>
          </p:cNvSpPr>
          <p:nvPr/>
        </p:nvSpPr>
        <p:spPr>
          <a:xfrm>
            <a:off x="9146567" y="3795952"/>
            <a:ext cx="2302930" cy="60152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rtl="0" eaLnBrk="1" fontAlgn="base" hangingPunct="1">
              <a:lnSpc>
                <a:spcPct val="110000"/>
              </a:lnSpc>
              <a:spcBef>
                <a:spcPts val="1200"/>
              </a:spcBef>
              <a:spcAft>
                <a:spcPct val="0"/>
              </a:spcAft>
              <a:buFont typeface="Arial" pitchFamily="34" charset="0"/>
              <a:buNone/>
              <a:defRPr lang="en-US" sz="1600" b="0" i="0" kern="1200" dirty="0">
                <a:solidFill>
                  <a:schemeClr val="bg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216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432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‒"/>
              <a:tabLst/>
              <a:defRPr sz="1800" b="0" i="0" kern="1200">
                <a:solidFill>
                  <a:schemeClr val="tx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612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864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‒"/>
              <a:defRPr sz="1800" b="0" i="0" kern="1200">
                <a:solidFill>
                  <a:schemeClr val="tx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3351933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1376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0819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0261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</a:pPr>
            <a:r>
              <a:rPr lang="en-US" dirty="0">
                <a:solidFill>
                  <a:schemeClr val="tx1"/>
                </a:solidFill>
              </a:rPr>
              <a:t>Results</a:t>
            </a:r>
          </a:p>
          <a:p>
            <a:pPr>
              <a:lnSpc>
                <a:spcPct val="90000"/>
              </a:lnSpc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Text Placeholder 28">
            <a:extLst>
              <a:ext uri="{FF2B5EF4-FFF2-40B4-BE49-F238E27FC236}">
                <a16:creationId xmlns:a16="http://schemas.microsoft.com/office/drawing/2014/main" id="{1E5BE115-EDC1-834A-B256-D23AE8D37550}"/>
              </a:ext>
            </a:extLst>
          </p:cNvPr>
          <p:cNvSpPr txBox="1">
            <a:spLocks/>
          </p:cNvSpPr>
          <p:nvPr/>
        </p:nvSpPr>
        <p:spPr>
          <a:xfrm>
            <a:off x="6524825" y="5674263"/>
            <a:ext cx="2302930" cy="60152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rtl="0" eaLnBrk="1" fontAlgn="base" hangingPunct="1">
              <a:lnSpc>
                <a:spcPct val="110000"/>
              </a:lnSpc>
              <a:spcBef>
                <a:spcPts val="1200"/>
              </a:spcBef>
              <a:spcAft>
                <a:spcPct val="0"/>
              </a:spcAft>
              <a:buFont typeface="Arial" pitchFamily="34" charset="0"/>
              <a:buNone/>
              <a:defRPr lang="en-US" sz="1600" b="0" i="0" kern="1200" dirty="0">
                <a:solidFill>
                  <a:schemeClr val="bg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216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432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‒"/>
              <a:tabLst/>
              <a:defRPr sz="1800" b="0" i="0" kern="1200">
                <a:solidFill>
                  <a:schemeClr val="tx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612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864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‒"/>
              <a:defRPr sz="1800" b="0" i="0" kern="1200">
                <a:solidFill>
                  <a:schemeClr val="tx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3351933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1376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0819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0261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</a:pPr>
            <a:r>
              <a:rPr lang="en-US" dirty="0">
                <a:solidFill>
                  <a:schemeClr val="tx1"/>
                </a:solidFill>
              </a:rPr>
              <a:t>Conclusion</a:t>
            </a:r>
          </a:p>
          <a:p>
            <a:pPr>
              <a:lnSpc>
                <a:spcPct val="90000"/>
              </a:lnSpc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Text Placeholder 29">
            <a:extLst>
              <a:ext uri="{FF2B5EF4-FFF2-40B4-BE49-F238E27FC236}">
                <a16:creationId xmlns:a16="http://schemas.microsoft.com/office/drawing/2014/main" id="{2BB1D85D-20F3-9C4F-897E-9619DF731418}"/>
              </a:ext>
            </a:extLst>
          </p:cNvPr>
          <p:cNvSpPr txBox="1">
            <a:spLocks/>
          </p:cNvSpPr>
          <p:nvPr/>
        </p:nvSpPr>
        <p:spPr>
          <a:xfrm>
            <a:off x="9146567" y="5674263"/>
            <a:ext cx="2302930" cy="60152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rtl="0" eaLnBrk="1" fontAlgn="base" hangingPunct="1">
              <a:lnSpc>
                <a:spcPct val="110000"/>
              </a:lnSpc>
              <a:spcBef>
                <a:spcPts val="1200"/>
              </a:spcBef>
              <a:spcAft>
                <a:spcPct val="0"/>
              </a:spcAft>
              <a:buFont typeface="Arial" pitchFamily="34" charset="0"/>
              <a:buNone/>
              <a:defRPr lang="en-US" sz="1600" b="0" i="0" kern="1200" dirty="0">
                <a:solidFill>
                  <a:schemeClr val="bg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216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432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‒"/>
              <a:tabLst/>
              <a:defRPr sz="1800" b="0" i="0" kern="1200">
                <a:solidFill>
                  <a:schemeClr val="tx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612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864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‒"/>
              <a:defRPr sz="1800" b="0" i="0" kern="1200">
                <a:solidFill>
                  <a:schemeClr val="tx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3351933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1376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0819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0261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</a:pPr>
            <a:r>
              <a:rPr lang="en-US" dirty="0">
                <a:solidFill>
                  <a:schemeClr val="tx1"/>
                </a:solidFill>
              </a:rPr>
              <a:t>Discussion</a:t>
            </a:r>
          </a:p>
          <a:p>
            <a:pPr>
              <a:lnSpc>
                <a:spcPct val="90000"/>
              </a:lnSpc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Text Placeholder 31">
            <a:extLst>
              <a:ext uri="{FF2B5EF4-FFF2-40B4-BE49-F238E27FC236}">
                <a16:creationId xmlns:a16="http://schemas.microsoft.com/office/drawing/2014/main" id="{6368DED1-FC48-9646-9AE1-98FBDE75636B}"/>
              </a:ext>
            </a:extLst>
          </p:cNvPr>
          <p:cNvSpPr txBox="1">
            <a:spLocks/>
          </p:cNvSpPr>
          <p:nvPr/>
        </p:nvSpPr>
        <p:spPr>
          <a:xfrm>
            <a:off x="9146567" y="961775"/>
            <a:ext cx="1325256" cy="84276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rtl="0" eaLnBrk="1" fontAlgn="base" hangingPunct="1">
              <a:lnSpc>
                <a:spcPct val="110000"/>
              </a:lnSpc>
              <a:spcBef>
                <a:spcPts val="1200"/>
              </a:spcBef>
              <a:spcAft>
                <a:spcPct val="0"/>
              </a:spcAft>
              <a:buFont typeface="Arial" pitchFamily="34" charset="0"/>
              <a:buNone/>
              <a:defRPr lang="en-US" sz="5400" b="0" i="0" kern="1200" dirty="0">
                <a:solidFill>
                  <a:schemeClr val="bg1"/>
                </a:solidFill>
                <a:latin typeface="Arial Black" panose="020B0A04020102020204" pitchFamily="34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216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432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‒"/>
              <a:tabLst/>
              <a:defRPr sz="1800" b="0" i="0" kern="1200">
                <a:solidFill>
                  <a:schemeClr val="tx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612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864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‒"/>
              <a:defRPr sz="1800" b="0" i="0" kern="1200">
                <a:solidFill>
                  <a:schemeClr val="tx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3351933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1376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0819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0261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5399" b="1" dirty="0">
                <a:solidFill>
                  <a:schemeClr val="tx1"/>
                </a:solidFill>
                <a:latin typeface="Graphik Black" panose="020B0503030202060203" pitchFamily="34" charset="77"/>
              </a:rPr>
              <a:t>02</a:t>
            </a:r>
          </a:p>
        </p:txBody>
      </p:sp>
      <p:sp>
        <p:nvSpPr>
          <p:cNvPr id="12" name="Text Placeholder 32">
            <a:extLst>
              <a:ext uri="{FF2B5EF4-FFF2-40B4-BE49-F238E27FC236}">
                <a16:creationId xmlns:a16="http://schemas.microsoft.com/office/drawing/2014/main" id="{050D1E82-1734-A149-A89A-5B47702C2169}"/>
              </a:ext>
            </a:extLst>
          </p:cNvPr>
          <p:cNvSpPr txBox="1">
            <a:spLocks/>
          </p:cNvSpPr>
          <p:nvPr/>
        </p:nvSpPr>
        <p:spPr>
          <a:xfrm>
            <a:off x="6524825" y="961775"/>
            <a:ext cx="1325256" cy="84276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rtl="0" eaLnBrk="1" fontAlgn="base" hangingPunct="1">
              <a:lnSpc>
                <a:spcPct val="110000"/>
              </a:lnSpc>
              <a:spcBef>
                <a:spcPts val="1200"/>
              </a:spcBef>
              <a:spcAft>
                <a:spcPct val="0"/>
              </a:spcAft>
              <a:buFont typeface="Arial" pitchFamily="34" charset="0"/>
              <a:buNone/>
              <a:defRPr lang="en-US" sz="5400" b="0" i="0" kern="1200" dirty="0">
                <a:solidFill>
                  <a:schemeClr val="bg1"/>
                </a:solidFill>
                <a:latin typeface="Arial Black" panose="020B0A04020102020204" pitchFamily="34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216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432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‒"/>
              <a:tabLst/>
              <a:defRPr sz="1800" b="0" i="0" kern="1200">
                <a:solidFill>
                  <a:schemeClr val="tx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612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864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‒"/>
              <a:defRPr sz="1800" b="0" i="0" kern="1200">
                <a:solidFill>
                  <a:schemeClr val="tx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3351933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1376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0819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0261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5399" b="1" dirty="0">
                <a:solidFill>
                  <a:schemeClr val="tx1"/>
                </a:solidFill>
                <a:latin typeface="Graphik Black" panose="020B0503030202060203" pitchFamily="34" charset="77"/>
              </a:rPr>
              <a:t>01</a:t>
            </a:r>
          </a:p>
        </p:txBody>
      </p:sp>
      <p:sp>
        <p:nvSpPr>
          <p:cNvPr id="14" name="Text Placeholder 34">
            <a:extLst>
              <a:ext uri="{FF2B5EF4-FFF2-40B4-BE49-F238E27FC236}">
                <a16:creationId xmlns:a16="http://schemas.microsoft.com/office/drawing/2014/main" id="{603B5128-3558-E141-A343-6EBD1B76A2EC}"/>
              </a:ext>
            </a:extLst>
          </p:cNvPr>
          <p:cNvSpPr txBox="1">
            <a:spLocks/>
          </p:cNvSpPr>
          <p:nvPr/>
        </p:nvSpPr>
        <p:spPr>
          <a:xfrm>
            <a:off x="9146567" y="2900466"/>
            <a:ext cx="1325256" cy="84276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rtl="0" eaLnBrk="1" fontAlgn="base" hangingPunct="1">
              <a:lnSpc>
                <a:spcPct val="110000"/>
              </a:lnSpc>
              <a:spcBef>
                <a:spcPts val="1200"/>
              </a:spcBef>
              <a:spcAft>
                <a:spcPct val="0"/>
              </a:spcAft>
              <a:buFont typeface="Arial" pitchFamily="34" charset="0"/>
              <a:buNone/>
              <a:defRPr lang="en-US" sz="5400" b="0" i="0" kern="1200" dirty="0">
                <a:solidFill>
                  <a:schemeClr val="bg1"/>
                </a:solidFill>
                <a:latin typeface="Arial Black" panose="020B0A04020102020204" pitchFamily="34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216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432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‒"/>
              <a:tabLst/>
              <a:defRPr sz="1800" b="0" i="0" kern="1200">
                <a:solidFill>
                  <a:schemeClr val="tx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612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864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‒"/>
              <a:defRPr sz="1800" b="0" i="0" kern="1200">
                <a:solidFill>
                  <a:schemeClr val="tx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3351933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1376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0819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0261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5399" b="1" dirty="0">
                <a:solidFill>
                  <a:schemeClr val="tx1"/>
                </a:solidFill>
                <a:latin typeface="Graphik Black" panose="020B0503030202060203" pitchFamily="34" charset="77"/>
              </a:rPr>
              <a:t>04</a:t>
            </a:r>
          </a:p>
        </p:txBody>
      </p:sp>
      <p:sp>
        <p:nvSpPr>
          <p:cNvPr id="15" name="Text Placeholder 35">
            <a:extLst>
              <a:ext uri="{FF2B5EF4-FFF2-40B4-BE49-F238E27FC236}">
                <a16:creationId xmlns:a16="http://schemas.microsoft.com/office/drawing/2014/main" id="{B2AA7654-6018-0249-950E-73A7F89732AA}"/>
              </a:ext>
            </a:extLst>
          </p:cNvPr>
          <p:cNvSpPr txBox="1">
            <a:spLocks/>
          </p:cNvSpPr>
          <p:nvPr/>
        </p:nvSpPr>
        <p:spPr>
          <a:xfrm>
            <a:off x="6524825" y="2900466"/>
            <a:ext cx="1325256" cy="84276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rtl="0" eaLnBrk="1" fontAlgn="base" hangingPunct="1">
              <a:lnSpc>
                <a:spcPct val="110000"/>
              </a:lnSpc>
              <a:spcBef>
                <a:spcPts val="1200"/>
              </a:spcBef>
              <a:spcAft>
                <a:spcPct val="0"/>
              </a:spcAft>
              <a:buFont typeface="Arial" pitchFamily="34" charset="0"/>
              <a:buNone/>
              <a:defRPr lang="en-US" sz="5400" b="0" i="0" kern="1200" dirty="0">
                <a:solidFill>
                  <a:schemeClr val="bg1"/>
                </a:solidFill>
                <a:latin typeface="Arial Black" panose="020B0A04020102020204" pitchFamily="34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216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432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‒"/>
              <a:tabLst/>
              <a:defRPr sz="1800" b="0" i="0" kern="1200">
                <a:solidFill>
                  <a:schemeClr val="tx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612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864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‒"/>
              <a:defRPr sz="1800" b="0" i="0" kern="1200">
                <a:solidFill>
                  <a:schemeClr val="tx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3351933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1376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0819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0261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5399" b="1" dirty="0">
                <a:solidFill>
                  <a:schemeClr val="tx1"/>
                </a:solidFill>
                <a:latin typeface="Graphik Black" panose="020B0503030202060203" pitchFamily="34" charset="77"/>
              </a:rPr>
              <a:t>03</a:t>
            </a:r>
          </a:p>
        </p:txBody>
      </p:sp>
      <p:sp>
        <p:nvSpPr>
          <p:cNvPr id="17" name="Text Placeholder 37">
            <a:extLst>
              <a:ext uri="{FF2B5EF4-FFF2-40B4-BE49-F238E27FC236}">
                <a16:creationId xmlns:a16="http://schemas.microsoft.com/office/drawing/2014/main" id="{E4EC5137-5AFF-2C48-8BCF-B8D64C2BD883}"/>
              </a:ext>
            </a:extLst>
          </p:cNvPr>
          <p:cNvSpPr txBox="1">
            <a:spLocks/>
          </p:cNvSpPr>
          <p:nvPr/>
        </p:nvSpPr>
        <p:spPr>
          <a:xfrm>
            <a:off x="9146567" y="4768483"/>
            <a:ext cx="1325256" cy="84276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rtl="0" eaLnBrk="1" fontAlgn="base" hangingPunct="1">
              <a:lnSpc>
                <a:spcPct val="110000"/>
              </a:lnSpc>
              <a:spcBef>
                <a:spcPts val="1200"/>
              </a:spcBef>
              <a:spcAft>
                <a:spcPct val="0"/>
              </a:spcAft>
              <a:buFont typeface="Arial" pitchFamily="34" charset="0"/>
              <a:buNone/>
              <a:defRPr lang="en-US" sz="5400" b="0" i="0" kern="1200" dirty="0">
                <a:solidFill>
                  <a:schemeClr val="bg1"/>
                </a:solidFill>
                <a:latin typeface="Arial Black" panose="020B0A04020102020204" pitchFamily="34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216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432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‒"/>
              <a:tabLst/>
              <a:defRPr sz="1800" b="0" i="0" kern="1200">
                <a:solidFill>
                  <a:schemeClr val="tx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612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864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‒"/>
              <a:defRPr sz="1800" b="0" i="0" kern="1200">
                <a:solidFill>
                  <a:schemeClr val="tx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3351933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1376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0819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0261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5399" b="1" dirty="0">
                <a:solidFill>
                  <a:schemeClr val="tx1"/>
                </a:solidFill>
                <a:latin typeface="Graphik Black" panose="020B0503030202060203" pitchFamily="34" charset="77"/>
              </a:rPr>
              <a:t>06</a:t>
            </a:r>
          </a:p>
        </p:txBody>
      </p:sp>
      <p:sp>
        <p:nvSpPr>
          <p:cNvPr id="18" name="Text Placeholder 38">
            <a:extLst>
              <a:ext uri="{FF2B5EF4-FFF2-40B4-BE49-F238E27FC236}">
                <a16:creationId xmlns:a16="http://schemas.microsoft.com/office/drawing/2014/main" id="{9FEBE275-99AA-0E49-8641-24BCA2FA108C}"/>
              </a:ext>
            </a:extLst>
          </p:cNvPr>
          <p:cNvSpPr txBox="1">
            <a:spLocks/>
          </p:cNvSpPr>
          <p:nvPr/>
        </p:nvSpPr>
        <p:spPr>
          <a:xfrm>
            <a:off x="6524825" y="4768483"/>
            <a:ext cx="1325256" cy="84276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rtl="0" eaLnBrk="1" fontAlgn="base" hangingPunct="1">
              <a:lnSpc>
                <a:spcPct val="110000"/>
              </a:lnSpc>
              <a:spcBef>
                <a:spcPts val="1200"/>
              </a:spcBef>
              <a:spcAft>
                <a:spcPct val="0"/>
              </a:spcAft>
              <a:buFont typeface="Arial" pitchFamily="34" charset="0"/>
              <a:buNone/>
              <a:defRPr lang="en-US" sz="5400" b="0" i="0" kern="1200" dirty="0">
                <a:solidFill>
                  <a:schemeClr val="bg1"/>
                </a:solidFill>
                <a:latin typeface="Arial Black" panose="020B0A04020102020204" pitchFamily="34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216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432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‒"/>
              <a:tabLst/>
              <a:defRPr sz="1800" b="0" i="0" kern="1200">
                <a:solidFill>
                  <a:schemeClr val="tx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612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•"/>
              <a:defRPr sz="1800" b="0" i="0" kern="1200">
                <a:solidFill>
                  <a:schemeClr val="tx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864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‒"/>
              <a:defRPr sz="1800" b="0" i="0" kern="1200">
                <a:solidFill>
                  <a:schemeClr val="tx1"/>
                </a:solidFill>
                <a:latin typeface="Graphik Regular" panose="020B0503030202060203" pitchFamily="34" charset="77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3351933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1376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0819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0261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5399" b="1" dirty="0">
                <a:solidFill>
                  <a:schemeClr val="tx1"/>
                </a:solidFill>
                <a:latin typeface="Graphik Black" panose="020B0503030202060203" pitchFamily="34" charset="77"/>
              </a:rPr>
              <a:t>05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5683FEC8-E062-8B40-9226-C407B5421DFE}"/>
              </a:ext>
            </a:extLst>
          </p:cNvPr>
          <p:cNvSpPr txBox="1">
            <a:spLocks/>
          </p:cNvSpPr>
          <p:nvPr/>
        </p:nvSpPr>
        <p:spPr>
          <a:xfrm>
            <a:off x="359311" y="554271"/>
            <a:ext cx="6069817" cy="3552754"/>
          </a:xfrm>
          <a:prstGeom prst="rect">
            <a:avLst/>
          </a:prstGeom>
        </p:spPr>
        <p:txBody>
          <a:bodyPr/>
          <a:lstStyle>
            <a:lvl1pPr algn="l" rtl="0" eaLnBrk="1" fontAlgn="base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Font typeface="Arial" charset="0"/>
              <a:defRPr lang="en-AU" sz="11500" b="0" i="0" kern="1200" cap="all" spc="0" baseline="0">
                <a:solidFill>
                  <a:schemeClr val="bg1"/>
                </a:solidFill>
                <a:latin typeface="Graphik Black" panose="020B0503030202060203" pitchFamily="34" charset="77"/>
                <a:ea typeface="Roboto Black" panose="02000000000000000000" pitchFamily="2" charset="0"/>
                <a:cs typeface="Arial" panose="020B0604020202020204" pitchFamily="34" charset="0"/>
              </a:defRPr>
            </a:lvl1pPr>
            <a:lvl2pPr algn="l" rtl="0" eaLnBrk="1" fontAlgn="base" hangingPunct="1">
              <a:lnSpc>
                <a:spcPts val="3466"/>
              </a:lnSpc>
              <a:spcBef>
                <a:spcPct val="0"/>
              </a:spcBef>
              <a:spcAft>
                <a:spcPct val="0"/>
              </a:spcAft>
              <a:buFont typeface="Arial" charset="0"/>
              <a:defRPr sz="3200">
                <a:solidFill>
                  <a:schemeClr val="tx1"/>
                </a:solidFill>
                <a:latin typeface="Arial" pitchFamily="-105" charset="-52"/>
                <a:ea typeface="Arial" pitchFamily="-105" charset="-52"/>
                <a:cs typeface="Arial" pitchFamily="-105" charset="-52"/>
              </a:defRPr>
            </a:lvl2pPr>
            <a:lvl3pPr algn="l" rtl="0" eaLnBrk="1" fontAlgn="base" hangingPunct="1">
              <a:lnSpc>
                <a:spcPts val="3466"/>
              </a:lnSpc>
              <a:spcBef>
                <a:spcPct val="0"/>
              </a:spcBef>
              <a:spcAft>
                <a:spcPct val="0"/>
              </a:spcAft>
              <a:buFont typeface="Arial" charset="0"/>
              <a:defRPr sz="3200">
                <a:solidFill>
                  <a:schemeClr val="tx1"/>
                </a:solidFill>
                <a:latin typeface="Arial" pitchFamily="-105" charset="-52"/>
                <a:ea typeface="Arial" pitchFamily="-105" charset="-52"/>
                <a:cs typeface="Arial" pitchFamily="-105" charset="-52"/>
              </a:defRPr>
            </a:lvl3pPr>
            <a:lvl4pPr algn="l" rtl="0" eaLnBrk="1" fontAlgn="base" hangingPunct="1">
              <a:lnSpc>
                <a:spcPts val="3466"/>
              </a:lnSpc>
              <a:spcBef>
                <a:spcPct val="0"/>
              </a:spcBef>
              <a:spcAft>
                <a:spcPct val="0"/>
              </a:spcAft>
              <a:buFont typeface="Arial" charset="0"/>
              <a:defRPr sz="3200">
                <a:solidFill>
                  <a:schemeClr val="tx1"/>
                </a:solidFill>
                <a:latin typeface="Arial" pitchFamily="-105" charset="-52"/>
                <a:ea typeface="Arial" pitchFamily="-105" charset="-52"/>
                <a:cs typeface="Arial" pitchFamily="-105" charset="-52"/>
              </a:defRPr>
            </a:lvl4pPr>
            <a:lvl5pPr algn="l" rtl="0" eaLnBrk="1" fontAlgn="base" hangingPunct="1">
              <a:lnSpc>
                <a:spcPts val="3466"/>
              </a:lnSpc>
              <a:spcBef>
                <a:spcPct val="0"/>
              </a:spcBef>
              <a:spcAft>
                <a:spcPct val="0"/>
              </a:spcAft>
              <a:buFont typeface="Arial" charset="0"/>
              <a:defRPr sz="3200">
                <a:solidFill>
                  <a:schemeClr val="tx1"/>
                </a:solidFill>
                <a:latin typeface="Arial" pitchFamily="-105" charset="-52"/>
                <a:ea typeface="Arial" pitchFamily="-105" charset="-52"/>
                <a:cs typeface="Arial" pitchFamily="-105" charset="-52"/>
              </a:defRPr>
            </a:lvl5pPr>
            <a:lvl6pPr marL="609443" algn="l" rtl="0" eaLnBrk="1" fontAlgn="base" hangingPunct="1">
              <a:spcBef>
                <a:spcPct val="0"/>
              </a:spcBef>
              <a:spcAft>
                <a:spcPct val="0"/>
              </a:spcAft>
              <a:buFont typeface="Arial" pitchFamily="-105" charset="-52"/>
              <a:defRPr sz="3500">
                <a:solidFill>
                  <a:schemeClr val="tx1"/>
                </a:solidFill>
                <a:latin typeface="Arial" pitchFamily="-105" charset="-52"/>
                <a:ea typeface="Arial" pitchFamily="-105" charset="-52"/>
                <a:cs typeface="Arial" pitchFamily="-105" charset="-52"/>
              </a:defRPr>
            </a:lvl6pPr>
            <a:lvl7pPr marL="1218885" algn="l" rtl="0" eaLnBrk="1" fontAlgn="base" hangingPunct="1">
              <a:spcBef>
                <a:spcPct val="0"/>
              </a:spcBef>
              <a:spcAft>
                <a:spcPct val="0"/>
              </a:spcAft>
              <a:buFont typeface="Arial" pitchFamily="-105" charset="-52"/>
              <a:defRPr sz="3500">
                <a:solidFill>
                  <a:schemeClr val="tx1"/>
                </a:solidFill>
                <a:latin typeface="Arial" pitchFamily="-105" charset="-52"/>
                <a:ea typeface="Arial" pitchFamily="-105" charset="-52"/>
                <a:cs typeface="Arial" pitchFamily="-105" charset="-52"/>
              </a:defRPr>
            </a:lvl7pPr>
            <a:lvl8pPr marL="1828328" algn="l" rtl="0" eaLnBrk="1" fontAlgn="base" hangingPunct="1">
              <a:spcBef>
                <a:spcPct val="0"/>
              </a:spcBef>
              <a:spcAft>
                <a:spcPct val="0"/>
              </a:spcAft>
              <a:buFont typeface="Arial" pitchFamily="-105" charset="-52"/>
              <a:defRPr sz="3500">
                <a:solidFill>
                  <a:schemeClr val="tx1"/>
                </a:solidFill>
                <a:latin typeface="Arial" pitchFamily="-105" charset="-52"/>
                <a:ea typeface="Arial" pitchFamily="-105" charset="-52"/>
                <a:cs typeface="Arial" pitchFamily="-105" charset="-52"/>
              </a:defRPr>
            </a:lvl8pPr>
            <a:lvl9pPr marL="2437771" algn="l" rtl="0" eaLnBrk="1" fontAlgn="base" hangingPunct="1">
              <a:spcBef>
                <a:spcPct val="0"/>
              </a:spcBef>
              <a:spcAft>
                <a:spcPct val="0"/>
              </a:spcAft>
              <a:buFont typeface="Arial" pitchFamily="-105" charset="-52"/>
              <a:defRPr sz="3500">
                <a:solidFill>
                  <a:schemeClr val="tx1"/>
                </a:solidFill>
                <a:latin typeface="Arial" pitchFamily="-105" charset="-52"/>
                <a:ea typeface="Arial" pitchFamily="-105" charset="-52"/>
                <a:cs typeface="Arial" pitchFamily="-105" charset="-52"/>
              </a:defRPr>
            </a:lvl9pPr>
          </a:lstStyle>
          <a:p>
            <a:r>
              <a:rPr lang="en-GB" sz="9600" dirty="0" err="1">
                <a:solidFill>
                  <a:schemeClr val="tx1"/>
                </a:solidFill>
              </a:rPr>
              <a:t>CoNtent</a:t>
            </a:r>
            <a:endParaRPr lang="en-GB" sz="11498" dirty="0">
              <a:solidFill>
                <a:schemeClr val="tx1"/>
              </a:solidFill>
            </a:endParaRP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4D34D136-D983-B649-A770-B71844EED4EE}"/>
              </a:ext>
            </a:extLst>
          </p:cNvPr>
          <p:cNvSpPr>
            <a:spLocks noGrp="1"/>
          </p:cNvSpPr>
          <p:nvPr>
            <p:ph type="sldNum" sz="quarter" idx="35"/>
          </p:nvPr>
        </p:nvSpPr>
        <p:spPr/>
        <p:txBody>
          <a:bodyPr/>
          <a:lstStyle/>
          <a:p>
            <a:pPr>
              <a:defRPr/>
            </a:pPr>
            <a:fld id="{90CBDC3A-D49F-4631-A8C7-55D59B33E5FA}" type="slidenum">
              <a:rPr lang="en-US" smtClean="0">
                <a:solidFill>
                  <a:schemeClr val="tx1"/>
                </a:solidFill>
              </a:rPr>
              <a:pPr>
                <a:defRPr/>
              </a:pPr>
              <a:t>2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8D3E43-FDCF-414D-AE6C-C4903D0D2E68}"/>
              </a:ext>
            </a:extLst>
          </p:cNvPr>
          <p:cNvSpPr>
            <a:spLocks noGrp="1"/>
          </p:cNvSpPr>
          <p:nvPr>
            <p:ph type="ftr" sz="quarter" idx="34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4904966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50196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94D6256-45E1-804E-BE56-3B84B2D778CA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1383924" y="1618900"/>
            <a:ext cx="3823156" cy="1298561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Interpretability</a:t>
            </a:r>
            <a:r>
              <a:rPr lang="en-US" dirty="0"/>
              <a:t> vs 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Explainability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F756ED-F9A1-8047-88CF-A4C761ED337F}"/>
              </a:ext>
            </a:extLst>
          </p:cNvPr>
          <p:cNvSpPr>
            <a:spLocks noGrp="1"/>
          </p:cNvSpPr>
          <p:nvPr>
            <p:ph type="sldNum" sz="quarter" idx="37"/>
          </p:nvPr>
        </p:nvSpPr>
        <p:spPr/>
        <p:txBody>
          <a:bodyPr/>
          <a:lstStyle/>
          <a:p>
            <a:fld id="{90CBDC3A-D49F-4631-A8C7-55D59B33E5FA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21" name="Title 20">
            <a:extLst>
              <a:ext uri="{FF2B5EF4-FFF2-40B4-BE49-F238E27FC236}">
                <a16:creationId xmlns:a16="http://schemas.microsoft.com/office/drawing/2014/main" id="{7175AD26-14B2-0D40-9A35-D9910EA29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31116" y="1618899"/>
            <a:ext cx="5412463" cy="3157403"/>
          </a:xfrm>
        </p:spPr>
        <p:txBody>
          <a:bodyPr/>
          <a:lstStyle/>
          <a:p>
            <a:r>
              <a:rPr lang="en-US" dirty="0"/>
              <a:t>“The degree of understanding</a:t>
            </a:r>
            <a:br>
              <a:rPr lang="en-US" dirty="0"/>
            </a:br>
            <a:r>
              <a:rPr lang="en-US" sz="3200" dirty="0"/>
              <a:t>1) </a:t>
            </a:r>
            <a:r>
              <a:rPr lang="en-US" sz="4000" b="1" cap="all" dirty="0">
                <a:solidFill>
                  <a:schemeClr val="accent2"/>
                </a:solidFill>
                <a:latin typeface="Graphik Black" panose="020B0503030202060203"/>
              </a:rPr>
              <a:t>output</a:t>
            </a:r>
            <a:br>
              <a:rPr lang="en-US" dirty="0"/>
            </a:br>
            <a:r>
              <a:rPr lang="en-US" sz="3200" dirty="0"/>
              <a:t>2) </a:t>
            </a:r>
            <a:r>
              <a:rPr lang="en-US" sz="4000" b="1" cap="all" dirty="0">
                <a:solidFill>
                  <a:schemeClr val="accent1">
                    <a:lumMod val="75000"/>
                  </a:schemeClr>
                </a:solidFill>
                <a:latin typeface="Graphik Black" panose="020B0503030202060203"/>
              </a:rPr>
              <a:t>inner workings</a:t>
            </a:r>
            <a:br>
              <a:rPr lang="en-US" dirty="0"/>
            </a:br>
            <a:r>
              <a:rPr lang="en-US" dirty="0"/>
              <a:t> of the model”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D691BA6-F8EE-4144-A36A-4AD239CD40F9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endParaRPr lang="en-AU" dirty="0"/>
          </a:p>
        </p:txBody>
      </p:sp>
      <p:pic>
        <p:nvPicPr>
          <p:cNvPr id="6" name="Acc_DigitalBLACK">
            <a:extLst>
              <a:ext uri="{FF2B5EF4-FFF2-40B4-BE49-F238E27FC236}">
                <a16:creationId xmlns:a16="http://schemas.microsoft.com/office/drawing/2014/main" id="{1918B564-1877-4EAF-AB15-5ED567ED7997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40895" y="5888218"/>
            <a:ext cx="2579389" cy="499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58021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A995C74-9AA7-B844-B319-491361C5ACB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64144" y="3122120"/>
            <a:ext cx="914188" cy="91418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48A7CA-1862-5040-A415-BCDF2C832CB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02112" y="1725104"/>
            <a:ext cx="914188" cy="914188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673194-0A34-5742-9B6B-3C600C51B7DD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4143E0-B82B-724D-9F2A-9FE3B6B0B367}"/>
              </a:ext>
            </a:extLst>
          </p:cNvPr>
          <p:cNvSpPr>
            <a:spLocks noGrp="1"/>
          </p:cNvSpPr>
          <p:nvPr>
            <p:ph type="sldNum" sz="quarter" idx="37"/>
          </p:nvPr>
        </p:nvSpPr>
        <p:spPr/>
        <p:txBody>
          <a:bodyPr/>
          <a:lstStyle/>
          <a:p>
            <a:fld id="{90CBDC3A-D49F-4631-A8C7-55D59B33E5FA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0325DEE8-3EDD-8047-AFB0-40290FE9F6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12440" y="2321261"/>
            <a:ext cx="8422828" cy="1107739"/>
          </a:xfrm>
        </p:spPr>
        <p:txBody>
          <a:bodyPr/>
          <a:lstStyle/>
          <a:p>
            <a:r>
              <a:rPr lang="en-US" dirty="0"/>
              <a:t>Do we need to understand the inner workings of a predictive model? </a:t>
            </a:r>
          </a:p>
        </p:txBody>
      </p:sp>
      <p:pic>
        <p:nvPicPr>
          <p:cNvPr id="10" name="Acc_DigitalBLACK">
            <a:extLst>
              <a:ext uri="{FF2B5EF4-FFF2-40B4-BE49-F238E27FC236}">
                <a16:creationId xmlns:a16="http://schemas.microsoft.com/office/drawing/2014/main" id="{DC79E49D-6CC3-4737-B23B-7DEE88088103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40895" y="5888218"/>
            <a:ext cx="2579389" cy="499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37330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C63489A-53A1-C54E-AF09-52EBD1B39CF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44" y="444"/>
            <a:ext cx="12185058" cy="685752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430353E-471C-D848-B056-834854BADE61}"/>
              </a:ext>
            </a:extLst>
          </p:cNvPr>
          <p:cNvSpPr txBox="1"/>
          <p:nvPr/>
        </p:nvSpPr>
        <p:spPr>
          <a:xfrm>
            <a:off x="315524" y="1341974"/>
            <a:ext cx="4722090" cy="1416863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spAutoFit/>
          </a:bodyPr>
          <a:lstStyle/>
          <a:p>
            <a:pPr>
              <a:lnSpc>
                <a:spcPct val="85000"/>
              </a:lnSpc>
            </a:pPr>
            <a:r>
              <a:rPr lang="en-AU" sz="3600" cap="all" dirty="0">
                <a:solidFill>
                  <a:schemeClr val="accent2"/>
                </a:solidFill>
                <a:latin typeface="Graphik Black" panose="020B0503030202060203" pitchFamily="34" charset="77"/>
              </a:rPr>
              <a:t>Accenture markets their machine learning expertise</a:t>
            </a:r>
            <a:endParaRPr lang="en-AU" sz="6600" cap="all" dirty="0">
              <a:solidFill>
                <a:schemeClr val="accent2"/>
              </a:solidFill>
              <a:latin typeface="Graphik Black" panose="020B0503030202060203" pitchFamily="34" charset="77"/>
            </a:endParaRPr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6DCE1A3C-8351-F942-BAF4-09AF4263B156}"/>
              </a:ext>
            </a:extLst>
          </p:cNvPr>
          <p:cNvSpPr txBox="1">
            <a:spLocks/>
          </p:cNvSpPr>
          <p:nvPr/>
        </p:nvSpPr>
        <p:spPr>
          <a:xfrm>
            <a:off x="7662562" y="3751819"/>
            <a:ext cx="4166955" cy="1851168"/>
          </a:xfrm>
          <a:prstGeom prst="rect">
            <a:avLst/>
          </a:prstGeom>
        </p:spPr>
        <p:txBody>
          <a:bodyPr lIns="0" tIns="0" rIns="0" bIns="0"/>
          <a:lstStyle>
            <a:lvl1pPr marL="0" indent="0" algn="l" rtl="0" eaLnBrk="1" fontAlgn="base" hangingPunct="1">
              <a:lnSpc>
                <a:spcPct val="110000"/>
              </a:lnSpc>
              <a:spcBef>
                <a:spcPts val="1200"/>
              </a:spcBef>
              <a:spcAft>
                <a:spcPct val="0"/>
              </a:spcAft>
              <a:buFont typeface="Arial" pitchFamily="34" charset="0"/>
              <a:buNone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216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432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‒"/>
              <a:tabLst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612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864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‒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3351933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1376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0819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0261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9964" lvl="2" indent="-179964">
              <a:lnSpc>
                <a:spcPct val="100000"/>
              </a:lnSpc>
              <a:buFont typeface="Arial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  <a:latin typeface="Graphik" panose="020B0503030202060203" pitchFamily="34" charset="77"/>
              </a:rPr>
              <a:t>Lime and Shap</a:t>
            </a:r>
          </a:p>
          <a:p>
            <a:pPr marL="179964" lvl="2" indent="-179964">
              <a:lnSpc>
                <a:spcPct val="100000"/>
              </a:lnSpc>
              <a:buFont typeface="Arial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  <a:latin typeface="Graphik" panose="020B0503030202060203" pitchFamily="34" charset="77"/>
              </a:rPr>
              <a:t>Evaluation of explainers</a:t>
            </a:r>
          </a:p>
          <a:p>
            <a:pPr marL="179964" lvl="2" indent="-179964">
              <a:lnSpc>
                <a:spcPct val="100000"/>
              </a:lnSpc>
              <a:buFont typeface="Arial" pitchFamily="34" charset="0"/>
              <a:buChar char="•"/>
            </a:pPr>
            <a:endParaRPr lang="en-US" sz="1600" dirty="0">
              <a:solidFill>
                <a:schemeClr val="bg1"/>
              </a:solidFill>
              <a:latin typeface="Graphik" panose="020B0503030202060203" pitchFamily="34" charset="77"/>
            </a:endParaRPr>
          </a:p>
          <a:p>
            <a:pPr marL="179964" lvl="2" indent="-179964">
              <a:lnSpc>
                <a:spcPct val="100000"/>
              </a:lnSpc>
              <a:buFont typeface="Arial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  <a:latin typeface="Graphik" panose="020B0503030202060203" pitchFamily="34" charset="77"/>
              </a:rPr>
              <a:t>Explanation methods may gap the bridge between accuracy and explainability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DADF8CC9-3818-E540-9147-C9F070384F72}"/>
              </a:ext>
            </a:extLst>
          </p:cNvPr>
          <p:cNvSpPr txBox="1">
            <a:spLocks/>
          </p:cNvSpPr>
          <p:nvPr/>
        </p:nvSpPr>
        <p:spPr>
          <a:xfrm>
            <a:off x="7564949" y="3023507"/>
            <a:ext cx="3676208" cy="881961"/>
          </a:xfrm>
          <a:prstGeom prst="rect">
            <a:avLst/>
          </a:prstGeom>
        </p:spPr>
        <p:txBody>
          <a:bodyPr lIns="0" tIns="0" rIns="0" bIns="0"/>
          <a:lstStyle>
            <a:lvl1pPr marL="0" indent="0" algn="l" rtl="0" eaLnBrk="1" fontAlgn="base" hangingPunct="1">
              <a:lnSpc>
                <a:spcPct val="110000"/>
              </a:lnSpc>
              <a:spcBef>
                <a:spcPts val="1200"/>
              </a:spcBef>
              <a:spcAft>
                <a:spcPct val="0"/>
              </a:spcAft>
              <a:buFont typeface="Arial" pitchFamily="34" charset="0"/>
              <a:buNone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defRPr>
            </a:lvl1pPr>
            <a:lvl2pPr marL="216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defRPr>
            </a:lvl2pPr>
            <a:lvl3pPr marL="432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‒"/>
              <a:tabLst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defRPr>
            </a:lvl3pPr>
            <a:lvl4pPr marL="612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defRPr>
            </a:lvl4pPr>
            <a:lvl5pPr marL="864000" indent="-216000" algn="l" rtl="0" eaLnBrk="1" fontAlgn="base" hangingPunct="1">
              <a:lnSpc>
                <a:spcPct val="110000"/>
              </a:lnSpc>
              <a:spcBef>
                <a:spcPts val="800"/>
              </a:spcBef>
              <a:spcAft>
                <a:spcPct val="0"/>
              </a:spcAft>
              <a:buFont typeface="Arial" pitchFamily="34" charset="0"/>
              <a:buChar char="‒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defRPr>
            </a:lvl5pPr>
            <a:lvl6pPr marL="3351933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1376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0819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0261" indent="-304723" algn="l" defTabSz="121888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80000"/>
              </a:lnSpc>
              <a:spcBef>
                <a:spcPts val="0"/>
              </a:spcBef>
            </a:pPr>
            <a:r>
              <a:rPr lang="en-US" sz="2400" dirty="0">
                <a:solidFill>
                  <a:schemeClr val="accent2"/>
                </a:solidFill>
                <a:latin typeface="Graphik Black" panose="020B0503030202060203" pitchFamily="34" charset="77"/>
              </a:rPr>
              <a:t>EXPLANATION METHODS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F02853-F947-524E-BCD7-9E15B380C94E}"/>
              </a:ext>
            </a:extLst>
          </p:cNvPr>
          <p:cNvSpPr txBox="1"/>
          <p:nvPr/>
        </p:nvSpPr>
        <p:spPr>
          <a:xfrm>
            <a:off x="360897" y="749385"/>
            <a:ext cx="3565057" cy="3599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ct val="85000"/>
              </a:lnSpc>
            </a:pPr>
            <a:r>
              <a:rPr lang="en-AU" sz="2000" b="1" cap="all" dirty="0">
                <a:solidFill>
                  <a:schemeClr val="bg1"/>
                </a:solidFill>
                <a:latin typeface="Graphik" panose="020B0503030202060203" pitchFamily="34" charset="77"/>
              </a:rPr>
              <a:t>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ACDB24C-5640-754D-9A41-B71562882919}"/>
              </a:ext>
            </a:extLst>
          </p:cNvPr>
          <p:cNvSpPr>
            <a:spLocks noGrp="1"/>
          </p:cNvSpPr>
          <p:nvPr>
            <p:ph type="sldNum" sz="quarter" idx="35"/>
          </p:nvPr>
        </p:nvSpPr>
        <p:spPr/>
        <p:txBody>
          <a:bodyPr/>
          <a:lstStyle/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5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57222D9-C984-4656-905C-D30FCBD7C604}"/>
              </a:ext>
            </a:extLst>
          </p:cNvPr>
          <p:cNvSpPr>
            <a:spLocks noGrp="1"/>
          </p:cNvSpPr>
          <p:nvPr>
            <p:ph type="ftr" sz="quarter" idx="34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6579323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88D6C62-AD39-8C4F-B307-6B3BFE9FF6E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01600" y="446"/>
            <a:ext cx="12293600" cy="6857554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5FB1743-9BD8-2F40-9355-F3E425538381}"/>
              </a:ext>
            </a:extLst>
          </p:cNvPr>
          <p:cNvGrpSpPr/>
          <p:nvPr/>
        </p:nvGrpSpPr>
        <p:grpSpPr>
          <a:xfrm>
            <a:off x="1119905" y="1386304"/>
            <a:ext cx="4889064" cy="2264270"/>
            <a:chOff x="1116372" y="1854297"/>
            <a:chExt cx="4890196" cy="2264793"/>
          </a:xfrm>
        </p:grpSpPr>
        <p:sp>
          <p:nvSpPr>
            <p:cNvPr id="5" name="Text Placeholder 7">
              <a:extLst>
                <a:ext uri="{FF2B5EF4-FFF2-40B4-BE49-F238E27FC236}">
                  <a16:creationId xmlns:a16="http://schemas.microsoft.com/office/drawing/2014/main" id="{0065D296-A482-0D4D-91CA-E4FE8E18B435}"/>
                </a:ext>
              </a:extLst>
            </p:cNvPr>
            <p:cNvSpPr txBox="1">
              <a:spLocks/>
            </p:cNvSpPr>
            <p:nvPr/>
          </p:nvSpPr>
          <p:spPr>
            <a:xfrm>
              <a:off x="1116372" y="3114737"/>
              <a:ext cx="4890196" cy="1004353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>
              <a:lvl1pPr marL="0" indent="0" algn="l" rtl="0" eaLnBrk="1" fontAlgn="base" hangingPunct="1">
                <a:lnSpc>
                  <a:spcPct val="110000"/>
                </a:lnSpc>
                <a:spcBef>
                  <a:spcPts val="1200"/>
                </a:spcBef>
                <a:spcAft>
                  <a:spcPct val="0"/>
                </a:spcAft>
                <a:buFont typeface="Arial" pitchFamily="34" charset="0"/>
                <a:buNone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Roboto" panose="02000000000000000000" pitchFamily="2" charset="0"/>
                  <a:cs typeface="Arial" panose="020B0604020202020204" pitchFamily="34" charset="0"/>
                </a:defRPr>
              </a:lvl1pPr>
              <a:lvl2pPr marL="216000" indent="-216000" algn="l" rtl="0" eaLnBrk="1" fontAlgn="base" hangingPunct="1">
                <a:lnSpc>
                  <a:spcPct val="110000"/>
                </a:lnSpc>
                <a:spcBef>
                  <a:spcPts val="800"/>
                </a:spcBef>
                <a:spcAft>
                  <a:spcPct val="0"/>
                </a:spcAft>
                <a:buFont typeface="Arial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Roboto" panose="02000000000000000000" pitchFamily="2" charset="0"/>
                  <a:cs typeface="Arial" panose="020B0604020202020204" pitchFamily="34" charset="0"/>
                </a:defRPr>
              </a:lvl2pPr>
              <a:lvl3pPr marL="432000" indent="-216000" algn="l" rtl="0" eaLnBrk="1" fontAlgn="base" hangingPunct="1">
                <a:lnSpc>
                  <a:spcPct val="110000"/>
                </a:lnSpc>
                <a:spcBef>
                  <a:spcPts val="800"/>
                </a:spcBef>
                <a:spcAft>
                  <a:spcPct val="0"/>
                </a:spcAft>
                <a:buFont typeface="Arial" pitchFamily="34" charset="0"/>
                <a:buChar char="‒"/>
                <a:tabLst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Roboto" panose="02000000000000000000" pitchFamily="2" charset="0"/>
                  <a:cs typeface="Arial" panose="020B0604020202020204" pitchFamily="34" charset="0"/>
                </a:defRPr>
              </a:lvl3pPr>
              <a:lvl4pPr marL="612000" indent="-216000" algn="l" rtl="0" eaLnBrk="1" fontAlgn="base" hangingPunct="1">
                <a:lnSpc>
                  <a:spcPct val="110000"/>
                </a:lnSpc>
                <a:spcBef>
                  <a:spcPts val="800"/>
                </a:spcBef>
                <a:spcAft>
                  <a:spcPct val="0"/>
                </a:spcAft>
                <a:buFont typeface="Arial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Roboto" panose="02000000000000000000" pitchFamily="2" charset="0"/>
                  <a:cs typeface="Arial" panose="020B0604020202020204" pitchFamily="34" charset="0"/>
                </a:defRPr>
              </a:lvl4pPr>
              <a:lvl5pPr marL="864000" indent="-216000" algn="l" rtl="0" eaLnBrk="1" fontAlgn="base" hangingPunct="1">
                <a:lnSpc>
                  <a:spcPct val="110000"/>
                </a:lnSpc>
                <a:spcBef>
                  <a:spcPts val="800"/>
                </a:spcBef>
                <a:spcAft>
                  <a:spcPct val="0"/>
                </a:spcAft>
                <a:buFont typeface="Arial" pitchFamily="34" charset="0"/>
                <a:buChar char="‒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Roboto" panose="02000000000000000000" pitchFamily="2" charset="0"/>
                  <a:cs typeface="Arial" panose="020B0604020202020204" pitchFamily="34" charset="0"/>
                </a:defRPr>
              </a:lvl5pPr>
              <a:lvl6pPr marL="3351933" indent="-304723" algn="l" defTabSz="1218885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7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1376" indent="-304723" algn="l" defTabSz="1218885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7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0819" indent="-304723" algn="l" defTabSz="1218885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7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0261" indent="-304723" algn="l" defTabSz="1218885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7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66647" lvl="2" indent="-266647">
                <a:buFont typeface="Arial" panose="020B0604020202020204" pitchFamily="34" charset="0"/>
                <a:buChar char="•"/>
              </a:pPr>
              <a:endParaRPr lang="en-US" sz="1600" dirty="0">
                <a:solidFill>
                  <a:schemeClr val="bg1"/>
                </a:solidFill>
                <a:latin typeface="Graphik" panose="020B0503030202060203" pitchFamily="34" charset="77"/>
              </a:endParaRPr>
            </a:p>
            <a:p>
              <a:pPr marL="266647" lvl="2" indent="-266647">
                <a:buFont typeface="Arial" panose="020B0604020202020204" pitchFamily="34" charset="0"/>
                <a:buChar char="•"/>
              </a:pPr>
              <a:r>
                <a:rPr lang="en-US" sz="1600" dirty="0">
                  <a:solidFill>
                    <a:schemeClr val="bg1"/>
                  </a:solidFill>
                  <a:latin typeface="Graphik" panose="020B0503030202060203" pitchFamily="34" charset="77"/>
                </a:rPr>
                <a:t>Linear explanation model</a:t>
              </a:r>
            </a:p>
            <a:p>
              <a:pPr marL="266647" lvl="2" indent="-266647">
                <a:buFont typeface="Arial" panose="020B0604020202020204" pitchFamily="34" charset="0"/>
                <a:buChar char="•"/>
              </a:pPr>
              <a:r>
                <a:rPr lang="en-US" sz="1600" dirty="0">
                  <a:solidFill>
                    <a:schemeClr val="bg1"/>
                  </a:solidFill>
                  <a:latin typeface="Graphik" panose="020B0503030202060203" pitchFamily="34" charset="77"/>
                </a:rPr>
                <a:t>Model-agnostic</a:t>
              </a:r>
            </a:p>
          </p:txBody>
        </p:sp>
        <p:sp>
          <p:nvSpPr>
            <p:cNvPr id="6" name="Text Placeholder 2">
              <a:extLst>
                <a:ext uri="{FF2B5EF4-FFF2-40B4-BE49-F238E27FC236}">
                  <a16:creationId xmlns:a16="http://schemas.microsoft.com/office/drawing/2014/main" id="{C0937FC6-3077-8741-A555-F62A00F75215}"/>
                </a:ext>
              </a:extLst>
            </p:cNvPr>
            <p:cNvSpPr txBox="1">
              <a:spLocks/>
            </p:cNvSpPr>
            <p:nvPr/>
          </p:nvSpPr>
          <p:spPr>
            <a:xfrm>
              <a:off x="1152796" y="1854297"/>
              <a:ext cx="4506362" cy="1219202"/>
            </a:xfrm>
            <a:prstGeom prst="rect">
              <a:avLst/>
            </a:prstGeom>
          </p:spPr>
          <p:txBody>
            <a:bodyPr lIns="0" tIns="0" rIns="0" bIns="0"/>
            <a:lstStyle>
              <a:lvl1pPr marL="0" indent="0" algn="l" rtl="0" eaLnBrk="1" fontAlgn="base" hangingPunct="1">
                <a:lnSpc>
                  <a:spcPct val="110000"/>
                </a:lnSpc>
                <a:spcBef>
                  <a:spcPts val="1200"/>
                </a:spcBef>
                <a:spcAft>
                  <a:spcPct val="0"/>
                </a:spcAft>
                <a:buFont typeface="Arial" pitchFamily="34" charset="0"/>
                <a:buNone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Roboto" panose="02000000000000000000" pitchFamily="2" charset="0"/>
                  <a:cs typeface="Arial" panose="020B0604020202020204" pitchFamily="34" charset="0"/>
                </a:defRPr>
              </a:lvl1pPr>
              <a:lvl2pPr marL="216000" indent="-216000" algn="l" rtl="0" eaLnBrk="1" fontAlgn="base" hangingPunct="1">
                <a:lnSpc>
                  <a:spcPct val="110000"/>
                </a:lnSpc>
                <a:spcBef>
                  <a:spcPts val="800"/>
                </a:spcBef>
                <a:spcAft>
                  <a:spcPct val="0"/>
                </a:spcAft>
                <a:buFont typeface="Arial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Roboto" panose="02000000000000000000" pitchFamily="2" charset="0"/>
                  <a:cs typeface="Arial" panose="020B0604020202020204" pitchFamily="34" charset="0"/>
                </a:defRPr>
              </a:lvl2pPr>
              <a:lvl3pPr marL="432000" indent="-216000" algn="l" rtl="0" eaLnBrk="1" fontAlgn="base" hangingPunct="1">
                <a:lnSpc>
                  <a:spcPct val="110000"/>
                </a:lnSpc>
                <a:spcBef>
                  <a:spcPts val="800"/>
                </a:spcBef>
                <a:spcAft>
                  <a:spcPct val="0"/>
                </a:spcAft>
                <a:buFont typeface="Arial" pitchFamily="34" charset="0"/>
                <a:buChar char="‒"/>
                <a:tabLst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Roboto" panose="02000000000000000000" pitchFamily="2" charset="0"/>
                  <a:cs typeface="Arial" panose="020B0604020202020204" pitchFamily="34" charset="0"/>
                </a:defRPr>
              </a:lvl3pPr>
              <a:lvl4pPr marL="612000" indent="-216000" algn="l" rtl="0" eaLnBrk="1" fontAlgn="base" hangingPunct="1">
                <a:lnSpc>
                  <a:spcPct val="110000"/>
                </a:lnSpc>
                <a:spcBef>
                  <a:spcPts val="800"/>
                </a:spcBef>
                <a:spcAft>
                  <a:spcPct val="0"/>
                </a:spcAft>
                <a:buFont typeface="Arial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Roboto" panose="02000000000000000000" pitchFamily="2" charset="0"/>
                  <a:cs typeface="Arial" panose="020B0604020202020204" pitchFamily="34" charset="0"/>
                </a:defRPr>
              </a:lvl4pPr>
              <a:lvl5pPr marL="864000" indent="-216000" algn="l" rtl="0" eaLnBrk="1" fontAlgn="base" hangingPunct="1">
                <a:lnSpc>
                  <a:spcPct val="110000"/>
                </a:lnSpc>
                <a:spcBef>
                  <a:spcPts val="800"/>
                </a:spcBef>
                <a:spcAft>
                  <a:spcPct val="0"/>
                </a:spcAft>
                <a:buFont typeface="Arial" pitchFamily="34" charset="0"/>
                <a:buChar char="‒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Roboto" panose="02000000000000000000" pitchFamily="2" charset="0"/>
                  <a:cs typeface="Arial" panose="020B0604020202020204" pitchFamily="34" charset="0"/>
                </a:defRPr>
              </a:lvl5pPr>
              <a:lvl6pPr marL="3351933" indent="-304723" algn="l" defTabSz="1218885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7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1376" indent="-304723" algn="l" defTabSz="1218885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7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0819" indent="-304723" algn="l" defTabSz="1218885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7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0261" indent="-304723" algn="l" defTabSz="1218885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7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70000"/>
                </a:lnSpc>
              </a:pPr>
              <a:r>
                <a:rPr lang="en-US" sz="5399" dirty="0">
                  <a:solidFill>
                    <a:schemeClr val="accent2"/>
                  </a:solidFill>
                  <a:latin typeface="Graphik Black" panose="020B0503030202060203" pitchFamily="34" charset="77"/>
                </a:rPr>
                <a:t>Lime</a:t>
              </a:r>
            </a:p>
            <a:p>
              <a:pPr>
                <a:lnSpc>
                  <a:spcPct val="70000"/>
                </a:lnSpc>
              </a:pPr>
              <a:r>
                <a:rPr lang="en-US" sz="5399" dirty="0" err="1">
                  <a:solidFill>
                    <a:schemeClr val="accent2"/>
                  </a:solidFill>
                  <a:latin typeface="Graphik Black" panose="020B0503030202060203" pitchFamily="34" charset="77"/>
                </a:rPr>
                <a:t>Shap</a:t>
              </a:r>
              <a:endParaRPr lang="en-GB" sz="3599" dirty="0">
                <a:solidFill>
                  <a:schemeClr val="accent2"/>
                </a:solidFill>
                <a:latin typeface="Graphik Black" panose="020B0503030202060203" pitchFamily="34" charset="77"/>
              </a:endParaRP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963ED44-54AF-E943-B0C3-23F012BB3B7F}"/>
              </a:ext>
            </a:extLst>
          </p:cNvPr>
          <p:cNvSpPr>
            <a:spLocks noGrp="1"/>
          </p:cNvSpPr>
          <p:nvPr>
            <p:ph type="sldNum" sz="quarter" idx="35"/>
          </p:nvPr>
        </p:nvSpPr>
        <p:spPr/>
        <p:txBody>
          <a:bodyPr/>
          <a:lstStyle/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6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F4283F0-9422-46F6-A2FE-974096C84182}"/>
              </a:ext>
            </a:extLst>
          </p:cNvPr>
          <p:cNvSpPr>
            <a:spLocks noGrp="1"/>
          </p:cNvSpPr>
          <p:nvPr>
            <p:ph type="ftr" sz="quarter" idx="34"/>
          </p:nvPr>
        </p:nvSpPr>
        <p:spPr/>
        <p:txBody>
          <a:bodyPr/>
          <a:lstStyle/>
          <a:p>
            <a:endParaRPr lang="en-AU" dirty="0"/>
          </a:p>
        </p:txBody>
      </p:sp>
      <p:pic>
        <p:nvPicPr>
          <p:cNvPr id="9" name="Graphic 8" descr="Magnifying glass">
            <a:extLst>
              <a:ext uri="{FF2B5EF4-FFF2-40B4-BE49-F238E27FC236}">
                <a16:creationId xmlns:a16="http://schemas.microsoft.com/office/drawing/2014/main" id="{16BDA591-CA7A-42F0-AF43-75E3E1E11E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4285418"/>
            <a:ext cx="914400" cy="914400"/>
          </a:xfrm>
          <a:prstGeom prst="rect">
            <a:avLst/>
          </a:prstGeom>
        </p:spPr>
      </p:pic>
      <p:sp>
        <p:nvSpPr>
          <p:cNvPr id="10" name="Title 8">
            <a:extLst>
              <a:ext uri="{FF2B5EF4-FFF2-40B4-BE49-F238E27FC236}">
                <a16:creationId xmlns:a16="http://schemas.microsoft.com/office/drawing/2014/main" id="{C28A3BD9-CE85-48EA-8717-201677064318}"/>
              </a:ext>
            </a:extLst>
          </p:cNvPr>
          <p:cNvSpPr txBox="1">
            <a:spLocks/>
          </p:cNvSpPr>
          <p:nvPr/>
        </p:nvSpPr>
        <p:spPr>
          <a:xfrm>
            <a:off x="1930400" y="4363957"/>
            <a:ext cx="5156760" cy="110773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>
                <a:solidFill>
                  <a:schemeClr val="bg1"/>
                </a:solidFill>
              </a:rPr>
              <a:t>“How can Lime and </a:t>
            </a:r>
            <a:r>
              <a:rPr lang="en-US" sz="2400" dirty="0" err="1">
                <a:solidFill>
                  <a:schemeClr val="bg1"/>
                </a:solidFill>
              </a:rPr>
              <a:t>Shap</a:t>
            </a:r>
            <a:r>
              <a:rPr lang="en-US" sz="2400" dirty="0">
                <a:solidFill>
                  <a:schemeClr val="bg1"/>
                </a:solidFill>
              </a:rPr>
              <a:t> be evaluated, and how do they compare?”</a:t>
            </a:r>
          </a:p>
        </p:txBody>
      </p:sp>
    </p:spTree>
    <p:extLst>
      <p:ext uri="{BB962C8B-B14F-4D97-AF65-F5344CB8AC3E}">
        <p14:creationId xmlns:p14="http://schemas.microsoft.com/office/powerpoint/2010/main" val="35827853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72DF853-EA65-054E-847F-717B876740C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92" y="417"/>
            <a:ext cx="12185110" cy="6857554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F6BF062-F00A-2C44-9A31-1CEC5D7287C7}"/>
              </a:ext>
            </a:extLst>
          </p:cNvPr>
          <p:cNvSpPr>
            <a:spLocks noGrp="1"/>
          </p:cNvSpPr>
          <p:nvPr>
            <p:ph type="sldNum" sz="quarter" idx="35"/>
          </p:nvPr>
        </p:nvSpPr>
        <p:spPr/>
        <p:txBody>
          <a:bodyPr/>
          <a:lstStyle/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7</a:t>
            </a:fld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5B9CCB1-F37D-A941-8525-AD3673063873}"/>
              </a:ext>
            </a:extLst>
          </p:cNvPr>
          <p:cNvGrpSpPr/>
          <p:nvPr/>
        </p:nvGrpSpPr>
        <p:grpSpPr>
          <a:xfrm>
            <a:off x="1119905" y="1386302"/>
            <a:ext cx="4703743" cy="3029693"/>
            <a:chOff x="1116372" y="1854297"/>
            <a:chExt cx="4704832" cy="3030394"/>
          </a:xfrm>
        </p:grpSpPr>
        <p:sp>
          <p:nvSpPr>
            <p:cNvPr id="11" name="Text Placeholder 7">
              <a:extLst>
                <a:ext uri="{FF2B5EF4-FFF2-40B4-BE49-F238E27FC236}">
                  <a16:creationId xmlns:a16="http://schemas.microsoft.com/office/drawing/2014/main" id="{27CA71A3-0119-1545-9A4E-42AC8E2C49D4}"/>
                </a:ext>
              </a:extLst>
            </p:cNvPr>
            <p:cNvSpPr txBox="1">
              <a:spLocks/>
            </p:cNvSpPr>
            <p:nvPr/>
          </p:nvSpPr>
          <p:spPr>
            <a:xfrm>
              <a:off x="1116372" y="3248143"/>
              <a:ext cx="4704832" cy="1636548"/>
            </a:xfrm>
            <a:prstGeom prst="rect">
              <a:avLst/>
            </a:prstGeom>
          </p:spPr>
          <p:txBody>
            <a:bodyPr wrap="square" lIns="0" tIns="0" rIns="0" bIns="0">
              <a:noAutofit/>
            </a:bodyPr>
            <a:lstStyle>
              <a:lvl1pPr marL="0" indent="0" algn="l" rtl="0" eaLnBrk="1" fontAlgn="base" hangingPunct="1">
                <a:lnSpc>
                  <a:spcPct val="110000"/>
                </a:lnSpc>
                <a:spcBef>
                  <a:spcPts val="1200"/>
                </a:spcBef>
                <a:spcAft>
                  <a:spcPct val="0"/>
                </a:spcAft>
                <a:buFont typeface="Arial" pitchFamily="34" charset="0"/>
                <a:buNone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Roboto" panose="02000000000000000000" pitchFamily="2" charset="0"/>
                  <a:cs typeface="Arial" panose="020B0604020202020204" pitchFamily="34" charset="0"/>
                </a:defRPr>
              </a:lvl1pPr>
              <a:lvl2pPr marL="216000" indent="-216000" algn="l" rtl="0" eaLnBrk="1" fontAlgn="base" hangingPunct="1">
                <a:lnSpc>
                  <a:spcPct val="110000"/>
                </a:lnSpc>
                <a:spcBef>
                  <a:spcPts val="800"/>
                </a:spcBef>
                <a:spcAft>
                  <a:spcPct val="0"/>
                </a:spcAft>
                <a:buFont typeface="Arial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Roboto" panose="02000000000000000000" pitchFamily="2" charset="0"/>
                  <a:cs typeface="Arial" panose="020B0604020202020204" pitchFamily="34" charset="0"/>
                </a:defRPr>
              </a:lvl2pPr>
              <a:lvl3pPr marL="432000" indent="-216000" algn="l" rtl="0" eaLnBrk="1" fontAlgn="base" hangingPunct="1">
                <a:lnSpc>
                  <a:spcPct val="110000"/>
                </a:lnSpc>
                <a:spcBef>
                  <a:spcPts val="800"/>
                </a:spcBef>
                <a:spcAft>
                  <a:spcPct val="0"/>
                </a:spcAft>
                <a:buFont typeface="Arial" pitchFamily="34" charset="0"/>
                <a:buChar char="‒"/>
                <a:tabLst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Roboto" panose="02000000000000000000" pitchFamily="2" charset="0"/>
                  <a:cs typeface="Arial" panose="020B0604020202020204" pitchFamily="34" charset="0"/>
                </a:defRPr>
              </a:lvl3pPr>
              <a:lvl4pPr marL="612000" indent="-216000" algn="l" rtl="0" eaLnBrk="1" fontAlgn="base" hangingPunct="1">
                <a:lnSpc>
                  <a:spcPct val="110000"/>
                </a:lnSpc>
                <a:spcBef>
                  <a:spcPts val="800"/>
                </a:spcBef>
                <a:spcAft>
                  <a:spcPct val="0"/>
                </a:spcAft>
                <a:buFont typeface="Arial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Roboto" panose="02000000000000000000" pitchFamily="2" charset="0"/>
                  <a:cs typeface="Arial" panose="020B0604020202020204" pitchFamily="34" charset="0"/>
                </a:defRPr>
              </a:lvl4pPr>
              <a:lvl5pPr marL="864000" indent="-216000" algn="l" rtl="0" eaLnBrk="1" fontAlgn="base" hangingPunct="1">
                <a:lnSpc>
                  <a:spcPct val="110000"/>
                </a:lnSpc>
                <a:spcBef>
                  <a:spcPts val="800"/>
                </a:spcBef>
                <a:spcAft>
                  <a:spcPct val="0"/>
                </a:spcAft>
                <a:buFont typeface="Arial" pitchFamily="34" charset="0"/>
                <a:buChar char="‒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Roboto" panose="02000000000000000000" pitchFamily="2" charset="0"/>
                  <a:cs typeface="Arial" panose="020B0604020202020204" pitchFamily="34" charset="0"/>
                </a:defRPr>
              </a:lvl5pPr>
              <a:lvl6pPr marL="3351933" indent="-304723" algn="l" defTabSz="1218885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7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1376" indent="-304723" algn="l" defTabSz="1218885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7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0819" indent="-304723" algn="l" defTabSz="1218885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7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0261" indent="-304723" algn="l" defTabSz="1218885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7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66647" lvl="2" indent="-266647">
                <a:buFont typeface="Arial" panose="020B0604020202020204" pitchFamily="34" charset="0"/>
                <a:buChar char="•"/>
              </a:pPr>
              <a:r>
                <a:rPr lang="en-US" sz="1600" dirty="0">
                  <a:solidFill>
                    <a:schemeClr val="bg1"/>
                  </a:solidFill>
                  <a:latin typeface="Graphik" panose="020B0503030202060203" pitchFamily="34" charset="77"/>
                </a:rPr>
                <a:t>No consensus in evaluation</a:t>
              </a:r>
            </a:p>
            <a:p>
              <a:pPr marL="266647" lvl="2" indent="-266647">
                <a:buFont typeface="Arial" panose="020B0604020202020204" pitchFamily="34" charset="0"/>
                <a:buChar char="•"/>
              </a:pPr>
              <a:r>
                <a:rPr lang="en-US" sz="1600" dirty="0">
                  <a:solidFill>
                    <a:schemeClr val="bg1"/>
                  </a:solidFill>
                  <a:latin typeface="Graphik" panose="020B0503030202060203" pitchFamily="34" charset="77"/>
                </a:rPr>
                <a:t>No golden standard</a:t>
              </a:r>
            </a:p>
            <a:p>
              <a:pPr marL="266647" lvl="2" indent="-266647">
                <a:buFont typeface="Arial" panose="020B0604020202020204" pitchFamily="34" charset="0"/>
                <a:buChar char="•"/>
              </a:pPr>
              <a:r>
                <a:rPr lang="en-US" sz="1600" dirty="0">
                  <a:solidFill>
                    <a:schemeClr val="bg1"/>
                  </a:solidFill>
                  <a:latin typeface="Graphik" panose="020B0503030202060203" pitchFamily="34" charset="77"/>
                </a:rPr>
                <a:t>‘Faithfulness’ metric</a:t>
              </a:r>
            </a:p>
          </p:txBody>
        </p:sp>
        <p:sp>
          <p:nvSpPr>
            <p:cNvPr id="12" name="Text Placeholder 2">
              <a:extLst>
                <a:ext uri="{FF2B5EF4-FFF2-40B4-BE49-F238E27FC236}">
                  <a16:creationId xmlns:a16="http://schemas.microsoft.com/office/drawing/2014/main" id="{43685761-9929-FF4E-A42A-00C5D41F4E20}"/>
                </a:ext>
              </a:extLst>
            </p:cNvPr>
            <p:cNvSpPr txBox="1">
              <a:spLocks/>
            </p:cNvSpPr>
            <p:nvPr/>
          </p:nvSpPr>
          <p:spPr>
            <a:xfrm>
              <a:off x="1152796" y="1854297"/>
              <a:ext cx="4506362" cy="1219202"/>
            </a:xfrm>
            <a:prstGeom prst="rect">
              <a:avLst/>
            </a:prstGeom>
          </p:spPr>
          <p:txBody>
            <a:bodyPr lIns="0" tIns="0" rIns="0" bIns="0"/>
            <a:lstStyle>
              <a:lvl1pPr marL="0" indent="0" algn="l" rtl="0" eaLnBrk="1" fontAlgn="base" hangingPunct="1">
                <a:lnSpc>
                  <a:spcPct val="110000"/>
                </a:lnSpc>
                <a:spcBef>
                  <a:spcPts val="1200"/>
                </a:spcBef>
                <a:spcAft>
                  <a:spcPct val="0"/>
                </a:spcAft>
                <a:buFont typeface="Arial" pitchFamily="34" charset="0"/>
                <a:buNone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Roboto" panose="02000000000000000000" pitchFamily="2" charset="0"/>
                  <a:cs typeface="Arial" panose="020B0604020202020204" pitchFamily="34" charset="0"/>
                </a:defRPr>
              </a:lvl1pPr>
              <a:lvl2pPr marL="216000" indent="-216000" algn="l" rtl="0" eaLnBrk="1" fontAlgn="base" hangingPunct="1">
                <a:lnSpc>
                  <a:spcPct val="110000"/>
                </a:lnSpc>
                <a:spcBef>
                  <a:spcPts val="800"/>
                </a:spcBef>
                <a:spcAft>
                  <a:spcPct val="0"/>
                </a:spcAft>
                <a:buFont typeface="Arial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Roboto" panose="02000000000000000000" pitchFamily="2" charset="0"/>
                  <a:cs typeface="Arial" panose="020B0604020202020204" pitchFamily="34" charset="0"/>
                </a:defRPr>
              </a:lvl2pPr>
              <a:lvl3pPr marL="432000" indent="-216000" algn="l" rtl="0" eaLnBrk="1" fontAlgn="base" hangingPunct="1">
                <a:lnSpc>
                  <a:spcPct val="110000"/>
                </a:lnSpc>
                <a:spcBef>
                  <a:spcPts val="800"/>
                </a:spcBef>
                <a:spcAft>
                  <a:spcPct val="0"/>
                </a:spcAft>
                <a:buFont typeface="Arial" pitchFamily="34" charset="0"/>
                <a:buChar char="‒"/>
                <a:tabLst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Roboto" panose="02000000000000000000" pitchFamily="2" charset="0"/>
                  <a:cs typeface="Arial" panose="020B0604020202020204" pitchFamily="34" charset="0"/>
                </a:defRPr>
              </a:lvl3pPr>
              <a:lvl4pPr marL="612000" indent="-216000" algn="l" rtl="0" eaLnBrk="1" fontAlgn="base" hangingPunct="1">
                <a:lnSpc>
                  <a:spcPct val="110000"/>
                </a:lnSpc>
                <a:spcBef>
                  <a:spcPts val="800"/>
                </a:spcBef>
                <a:spcAft>
                  <a:spcPct val="0"/>
                </a:spcAft>
                <a:buFont typeface="Arial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Roboto" panose="02000000000000000000" pitchFamily="2" charset="0"/>
                  <a:cs typeface="Arial" panose="020B0604020202020204" pitchFamily="34" charset="0"/>
                </a:defRPr>
              </a:lvl4pPr>
              <a:lvl5pPr marL="864000" indent="-216000" algn="l" rtl="0" eaLnBrk="1" fontAlgn="base" hangingPunct="1">
                <a:lnSpc>
                  <a:spcPct val="110000"/>
                </a:lnSpc>
                <a:spcBef>
                  <a:spcPts val="800"/>
                </a:spcBef>
                <a:spcAft>
                  <a:spcPct val="0"/>
                </a:spcAft>
                <a:buFont typeface="Arial" pitchFamily="34" charset="0"/>
                <a:buChar char="‒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Roboto" panose="02000000000000000000" pitchFamily="2" charset="0"/>
                  <a:cs typeface="Arial" panose="020B0604020202020204" pitchFamily="34" charset="0"/>
                </a:defRPr>
              </a:lvl5pPr>
              <a:lvl6pPr marL="3351933" indent="-304723" algn="l" defTabSz="1218885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7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961376" indent="-304723" algn="l" defTabSz="1218885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7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4570819" indent="-304723" algn="l" defTabSz="1218885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7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5180261" indent="-304723" algn="l" defTabSz="1218885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7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70000"/>
                </a:lnSpc>
              </a:pPr>
              <a:r>
                <a:rPr lang="en-US" sz="5399" dirty="0">
                  <a:solidFill>
                    <a:schemeClr val="accent2"/>
                  </a:solidFill>
                  <a:latin typeface="Graphik Black" panose="020B0503030202060203" pitchFamily="34" charset="77"/>
                </a:rPr>
                <a:t>Evaluation metric</a:t>
              </a:r>
              <a:endParaRPr lang="en-GB" sz="3599" dirty="0">
                <a:solidFill>
                  <a:schemeClr val="accent2"/>
                </a:solidFill>
                <a:latin typeface="Graphik Black" panose="020B0503030202060203" pitchFamily="34" charset="77"/>
              </a:endParaRPr>
            </a:p>
          </p:txBody>
        </p:sp>
      </p:grp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DD799D5-E56C-4CFD-B232-DD92A0322F7D}"/>
              </a:ext>
            </a:extLst>
          </p:cNvPr>
          <p:cNvSpPr>
            <a:spLocks noGrp="1"/>
          </p:cNvSpPr>
          <p:nvPr>
            <p:ph type="ftr" sz="quarter" idx="34"/>
          </p:nvPr>
        </p:nvSpPr>
        <p:spPr/>
        <p:txBody>
          <a:bodyPr/>
          <a:lstStyle/>
          <a:p>
            <a:endParaRPr lang="en-AU" dirty="0"/>
          </a:p>
        </p:txBody>
      </p:sp>
      <p:pic>
        <p:nvPicPr>
          <p:cNvPr id="8" name="Graphic 7" descr="Magnifying glass">
            <a:extLst>
              <a:ext uri="{FF2B5EF4-FFF2-40B4-BE49-F238E27FC236}">
                <a16:creationId xmlns:a16="http://schemas.microsoft.com/office/drawing/2014/main" id="{DBDB3935-F9BB-42F6-B248-92B31199E9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4285418"/>
            <a:ext cx="914400" cy="9144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84FB26AF-2550-4507-95B7-440887944A9C}"/>
              </a:ext>
            </a:extLst>
          </p:cNvPr>
          <p:cNvSpPr txBox="1">
            <a:spLocks/>
          </p:cNvSpPr>
          <p:nvPr/>
        </p:nvSpPr>
        <p:spPr>
          <a:xfrm>
            <a:off x="1930400" y="4363957"/>
            <a:ext cx="5156760" cy="110773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>
                <a:solidFill>
                  <a:schemeClr val="bg1"/>
                </a:solidFill>
              </a:rPr>
              <a:t>“Is faithfulness a reliable evaluation metric for linear explanation models?”</a:t>
            </a:r>
          </a:p>
        </p:txBody>
      </p:sp>
    </p:spTree>
    <p:extLst>
      <p:ext uri="{BB962C8B-B14F-4D97-AF65-F5344CB8AC3E}">
        <p14:creationId xmlns:p14="http://schemas.microsoft.com/office/powerpoint/2010/main" val="27929823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9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72483A1-64B6-CD40-A3EC-DC33036ACA34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>
          <a:xfrm flipH="1">
            <a:off x="11449455" y="6537474"/>
            <a:ext cx="383630" cy="135700"/>
          </a:xfrm>
        </p:spPr>
        <p:txBody>
          <a:bodyPr/>
          <a:lstStyle/>
          <a:p>
            <a:fld id="{90CBDC3A-D49F-4631-A8C7-55D59B33E5FA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F34CA1B-F09A-CA40-8E0C-68999908644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38565" y="3447508"/>
            <a:ext cx="11294520" cy="3089891"/>
          </a:xfrm>
        </p:spPr>
        <p:txBody>
          <a:bodyPr numCol="3">
            <a:normAutofit/>
          </a:bodyPr>
          <a:lstStyle/>
          <a:p>
            <a:pPr marL="0" indent="0">
              <a:buNone/>
            </a:pPr>
            <a:r>
              <a:rPr lang="en-AU" dirty="0"/>
              <a:t>1) General</a:t>
            </a:r>
          </a:p>
          <a:p>
            <a:r>
              <a:rPr lang="en-AU" dirty="0"/>
              <a:t>Additive feature attribution methods</a:t>
            </a:r>
          </a:p>
          <a:p>
            <a:r>
              <a:rPr lang="en-AU" dirty="0"/>
              <a:t>Perturbations</a:t>
            </a:r>
          </a:p>
          <a:p>
            <a:r>
              <a:rPr lang="en-AU" dirty="0"/>
              <a:t>Synthetic data generation</a:t>
            </a:r>
          </a:p>
          <a:p>
            <a:pPr marL="0" indent="0">
              <a:buNone/>
            </a:pPr>
            <a:r>
              <a:rPr lang="en-AU" dirty="0"/>
              <a:t>2) Explainers</a:t>
            </a:r>
          </a:p>
          <a:p>
            <a:r>
              <a:rPr lang="en-AU" dirty="0"/>
              <a:t>Lime</a:t>
            </a:r>
          </a:p>
          <a:p>
            <a:r>
              <a:rPr lang="en-AU" dirty="0" err="1"/>
              <a:t>Shap</a:t>
            </a:r>
            <a:endParaRPr lang="en-AU" dirty="0"/>
          </a:p>
          <a:p>
            <a:endParaRPr lang="en-AU" dirty="0"/>
          </a:p>
          <a:p>
            <a:endParaRPr lang="en-AU" dirty="0"/>
          </a:p>
          <a:p>
            <a:pPr marL="0" indent="0">
              <a:buNone/>
            </a:pPr>
            <a:r>
              <a:rPr lang="en-AU" dirty="0"/>
              <a:t>3) Evaluation</a:t>
            </a:r>
          </a:p>
          <a:p>
            <a:r>
              <a:rPr lang="en-AU" dirty="0"/>
              <a:t>NDCG</a:t>
            </a:r>
          </a:p>
          <a:p>
            <a:r>
              <a:rPr lang="en-AU" dirty="0"/>
              <a:t>Faithfulness</a:t>
            </a:r>
          </a:p>
          <a:p>
            <a:endParaRPr lang="en-US" dirty="0"/>
          </a:p>
        </p:txBody>
      </p:sp>
      <p:sp>
        <p:nvSpPr>
          <p:cNvPr id="26" name="Title 25">
            <a:extLst>
              <a:ext uri="{FF2B5EF4-FFF2-40B4-BE49-F238E27FC236}">
                <a16:creationId xmlns:a16="http://schemas.microsoft.com/office/drawing/2014/main" id="{38CB3D8A-940A-304B-9647-4026C3D1B3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2021" y="2652012"/>
            <a:ext cx="7394112" cy="850033"/>
          </a:xfrm>
        </p:spPr>
        <p:txBody>
          <a:bodyPr/>
          <a:lstStyle/>
          <a:p>
            <a:r>
              <a:rPr lang="en-US" dirty="0"/>
              <a:t>Methods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E8D2F90-7575-4642-A892-F91F2C3B8A3D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27726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2C509B-0856-4316-A6A8-F1A82277E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Additive feature attribution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89829A-112A-4E74-B9C2-E217B6CB4A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Linear explanation model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Base rate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Feature attribution</a:t>
            </a:r>
          </a:p>
          <a:p>
            <a:pPr marL="457200" lvl="1" indent="0">
              <a:buNone/>
            </a:pPr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F1F554A-50C0-4EA9-A903-ADF49C45E73B}"/>
              </a:ext>
            </a:extLst>
          </p:cNvPr>
          <p:cNvSpPr/>
          <p:nvPr/>
        </p:nvSpPr>
        <p:spPr>
          <a:xfrm>
            <a:off x="8187069" y="5741161"/>
            <a:ext cx="3166730" cy="7517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5" name="Picture 4" descr="A screen shot of a computer&#10;&#10;Description automatically generated">
            <a:extLst>
              <a:ext uri="{FF2B5EF4-FFF2-40B4-BE49-F238E27FC236}">
                <a16:creationId xmlns:a16="http://schemas.microsoft.com/office/drawing/2014/main" id="{964FB8D2-645B-41CB-B87D-A070F31649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4883" y="3507542"/>
            <a:ext cx="9002233" cy="2985333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C33D75B-A87B-49EE-83E3-879E8AFBED9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9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F9B495-7D0E-41AB-8549-C241DCE56FB0}"/>
              </a:ext>
            </a:extLst>
          </p:cNvPr>
          <p:cNvSpPr txBox="1"/>
          <p:nvPr/>
        </p:nvSpPr>
        <p:spPr>
          <a:xfrm>
            <a:off x="1594883" y="6538912"/>
            <a:ext cx="86868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100" dirty="0"/>
              <a:t>Source: </a:t>
            </a:r>
            <a:r>
              <a:rPr lang="en-GB" sz="1200" dirty="0">
                <a:hlinkClick r:id="rId4"/>
              </a:rPr>
              <a:t>https://github.com/slundberg/shap</a:t>
            </a:r>
            <a:r>
              <a:rPr lang="en-GB" sz="1200" dirty="0"/>
              <a:t> (edited version)</a:t>
            </a:r>
          </a:p>
        </p:txBody>
      </p:sp>
    </p:spTree>
    <p:extLst>
      <p:ext uri="{BB962C8B-B14F-4D97-AF65-F5344CB8AC3E}">
        <p14:creationId xmlns:p14="http://schemas.microsoft.com/office/powerpoint/2010/main" val="34378422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9F890-4123-4667-A73C-20DF1E1935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/>
              <a:t>Perturbation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20D6C5-A67C-4AFD-85D7-C46A61ED9F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63140" cy="4351338"/>
          </a:xfrm>
        </p:spPr>
        <p:txBody>
          <a:bodyPr/>
          <a:lstStyle/>
          <a:p>
            <a:r>
              <a:rPr lang="en-GB" dirty="0"/>
              <a:t>Model-agnostic explainers rely on perturbations</a:t>
            </a:r>
          </a:p>
          <a:p>
            <a:pPr>
              <a:buClr>
                <a:schemeClr val="tx1"/>
              </a:buClr>
            </a:pPr>
            <a:r>
              <a:rPr lang="en-GB" dirty="0">
                <a:solidFill>
                  <a:srgbClr val="FF9500"/>
                </a:solidFill>
              </a:rPr>
              <a:t>Perturbation</a:t>
            </a:r>
            <a:r>
              <a:rPr lang="en-GB" dirty="0"/>
              <a:t>:</a:t>
            </a:r>
          </a:p>
          <a:p>
            <a:pPr marL="457200" lvl="1" indent="0">
              <a:buNone/>
            </a:pPr>
            <a:r>
              <a:rPr lang="en-GB" dirty="0"/>
              <a:t>Masking feature value of an instance</a:t>
            </a:r>
          </a:p>
          <a:p>
            <a:r>
              <a:rPr lang="en-GB" dirty="0"/>
              <a:t>Effect of perturbation on model output</a:t>
            </a:r>
          </a:p>
          <a:p>
            <a:r>
              <a:rPr lang="en-GB" dirty="0"/>
              <a:t>Can be applied to any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F0B93D-94E0-461D-BA39-044EA784B63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10</a:t>
            </a:fld>
            <a:endParaRPr lang="en-US" dirty="0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E48D4C19-D924-4DEA-8367-E9F9C3710D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001469"/>
              </p:ext>
            </p:extLst>
          </p:nvPr>
        </p:nvGraphicFramePr>
        <p:xfrm>
          <a:off x="6351186" y="2014893"/>
          <a:ext cx="5398977" cy="757629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283659">
                  <a:extLst>
                    <a:ext uri="{9D8B030D-6E8A-4147-A177-3AD203B41FA5}">
                      <a16:colId xmlns:a16="http://schemas.microsoft.com/office/drawing/2014/main" val="3585218142"/>
                    </a:ext>
                  </a:extLst>
                </a:gridCol>
                <a:gridCol w="1283659">
                  <a:extLst>
                    <a:ext uri="{9D8B030D-6E8A-4147-A177-3AD203B41FA5}">
                      <a16:colId xmlns:a16="http://schemas.microsoft.com/office/drawing/2014/main" val="1574458796"/>
                    </a:ext>
                  </a:extLst>
                </a:gridCol>
                <a:gridCol w="1283659">
                  <a:extLst>
                    <a:ext uri="{9D8B030D-6E8A-4147-A177-3AD203B41FA5}">
                      <a16:colId xmlns:a16="http://schemas.microsoft.com/office/drawing/2014/main" val="2425732287"/>
                    </a:ext>
                  </a:extLst>
                </a:gridCol>
                <a:gridCol w="1548000">
                  <a:extLst>
                    <a:ext uri="{9D8B030D-6E8A-4147-A177-3AD203B41FA5}">
                      <a16:colId xmlns:a16="http://schemas.microsoft.com/office/drawing/2014/main" val="3047535203"/>
                    </a:ext>
                  </a:extLst>
                </a:gridCol>
              </a:tblGrid>
              <a:tr h="386789">
                <a:tc>
                  <a:txBody>
                    <a:bodyPr/>
                    <a:lstStyle/>
                    <a:p>
                      <a:r>
                        <a:rPr lang="nl-NL" dirty="0"/>
                        <a:t>Feature 1</a:t>
                      </a:r>
                      <a:endParaRPr lang="en-GB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Feature 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Feature 3</a:t>
                      </a:r>
                      <a:endParaRPr lang="en-GB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nl-NL" sz="1200" dirty="0"/>
                        <a:t>Model </a:t>
                      </a:r>
                      <a:r>
                        <a:rPr lang="nl-NL" dirty="0"/>
                        <a:t>Output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7013807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10</a:t>
                      </a:r>
                      <a:endParaRPr lang="en-GB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3.25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“Sydney”</a:t>
                      </a:r>
                      <a:endParaRPr lang="en-GB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80%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487017286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2882FA21-7CBC-4923-9AE6-175E46B2D0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2851400"/>
              </p:ext>
            </p:extLst>
          </p:nvPr>
        </p:nvGraphicFramePr>
        <p:xfrm>
          <a:off x="6351186" y="4325499"/>
          <a:ext cx="5398977" cy="757629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283659">
                  <a:extLst>
                    <a:ext uri="{9D8B030D-6E8A-4147-A177-3AD203B41FA5}">
                      <a16:colId xmlns:a16="http://schemas.microsoft.com/office/drawing/2014/main" val="3585218142"/>
                    </a:ext>
                  </a:extLst>
                </a:gridCol>
                <a:gridCol w="1283659">
                  <a:extLst>
                    <a:ext uri="{9D8B030D-6E8A-4147-A177-3AD203B41FA5}">
                      <a16:colId xmlns:a16="http://schemas.microsoft.com/office/drawing/2014/main" val="1574458796"/>
                    </a:ext>
                  </a:extLst>
                </a:gridCol>
                <a:gridCol w="1283659">
                  <a:extLst>
                    <a:ext uri="{9D8B030D-6E8A-4147-A177-3AD203B41FA5}">
                      <a16:colId xmlns:a16="http://schemas.microsoft.com/office/drawing/2014/main" val="2425732287"/>
                    </a:ext>
                  </a:extLst>
                </a:gridCol>
                <a:gridCol w="1548000">
                  <a:extLst>
                    <a:ext uri="{9D8B030D-6E8A-4147-A177-3AD203B41FA5}">
                      <a16:colId xmlns:a16="http://schemas.microsoft.com/office/drawing/2014/main" val="3047535203"/>
                    </a:ext>
                  </a:extLst>
                </a:gridCol>
              </a:tblGrid>
              <a:tr h="386789">
                <a:tc>
                  <a:txBody>
                    <a:bodyPr/>
                    <a:lstStyle/>
                    <a:p>
                      <a:r>
                        <a:rPr lang="nl-NL" dirty="0"/>
                        <a:t>Feature 1</a:t>
                      </a:r>
                      <a:endParaRPr lang="en-GB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Feature 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Feature 3</a:t>
                      </a:r>
                      <a:endParaRPr lang="en-GB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nl-NL" sz="1200" dirty="0"/>
                        <a:t>Model </a:t>
                      </a:r>
                      <a:r>
                        <a:rPr lang="nl-NL" dirty="0"/>
                        <a:t>Output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7013807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10</a:t>
                      </a:r>
                      <a:endParaRPr lang="en-GB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en-GB" dirty="0">
                        <a:solidFill>
                          <a:schemeClr val="tx1"/>
                        </a:solidFill>
                        <a:latin typeface="Graphik Black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“Sydney”</a:t>
                      </a:r>
                      <a:endParaRPr lang="en-GB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90%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487017286"/>
                  </a:ext>
                </a:extLst>
              </a:tr>
            </a:tbl>
          </a:graphicData>
        </a:graphic>
      </p:graphicFrame>
      <p:sp>
        <p:nvSpPr>
          <p:cNvPr id="9" name="Arrow: Chevron 8">
            <a:extLst>
              <a:ext uri="{FF2B5EF4-FFF2-40B4-BE49-F238E27FC236}">
                <a16:creationId xmlns:a16="http://schemas.microsoft.com/office/drawing/2014/main" id="{EE95B330-5419-4359-B9E5-77C992FF1C41}"/>
              </a:ext>
            </a:extLst>
          </p:cNvPr>
          <p:cNvSpPr/>
          <p:nvPr/>
        </p:nvSpPr>
        <p:spPr>
          <a:xfrm rot="5400000">
            <a:off x="8714632" y="3299146"/>
            <a:ext cx="308343" cy="499730"/>
          </a:xfrm>
          <a:prstGeom prst="chevron">
            <a:avLst/>
          </a:prstGeom>
          <a:solidFill>
            <a:srgbClr val="FF9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31240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017EB-A4A6-4DF2-88A1-11F20619E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Lime </a:t>
            </a:r>
            <a:r>
              <a:rPr lang="nl-NL" sz="3200" baseline="30000" dirty="0"/>
              <a:t>[1] </a:t>
            </a:r>
            <a:endParaRPr lang="en-GB" baseline="30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0A394B-BE5A-4230-9C64-8C3E78B9D4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Local Interpretable Model-agnostic </a:t>
            </a:r>
            <a:r>
              <a:rPr lang="en-GB" dirty="0">
                <a:solidFill>
                  <a:srgbClr val="FF9500"/>
                </a:solidFill>
              </a:rPr>
              <a:t>Explanations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Creates </a:t>
            </a:r>
            <a:r>
              <a:rPr lang="en-GB" dirty="0">
                <a:solidFill>
                  <a:srgbClr val="FF9500"/>
                </a:solidFill>
              </a:rPr>
              <a:t>explanations</a:t>
            </a:r>
            <a:r>
              <a:rPr lang="en-GB" dirty="0"/>
              <a:t> that are: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Interpretable </a:t>
            </a:r>
            <a:r>
              <a:rPr lang="en-GB" sz="1800" dirty="0"/>
              <a:t>(by humans)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Model-agnostic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Locally accurate / fidelity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506DAA-8EFB-47DF-BE8D-9A711E58D98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11</a:t>
            </a:fld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E55B2E7-7CB6-4E57-95DC-F6BFC1D5B6E0}"/>
              </a:ext>
            </a:extLst>
          </p:cNvPr>
          <p:cNvSpPr txBox="1">
            <a:spLocks/>
          </p:cNvSpPr>
          <p:nvPr/>
        </p:nvSpPr>
        <p:spPr>
          <a:xfrm>
            <a:off x="838199" y="6255535"/>
            <a:ext cx="7295707" cy="237340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4800" dirty="0"/>
              <a:t>[1] Ribeiro, M. T., Singh, S., &amp; </a:t>
            </a:r>
            <a:r>
              <a:rPr lang="en-GB" sz="4800" dirty="0" err="1"/>
              <a:t>Guestrin</a:t>
            </a:r>
            <a:r>
              <a:rPr lang="en-GB" sz="4800" dirty="0"/>
              <a:t>, C. (2016). “Why should I trust</a:t>
            </a:r>
            <a:br>
              <a:rPr lang="en-GB" sz="4800" dirty="0"/>
            </a:br>
            <a:r>
              <a:rPr lang="en-GB" sz="4800" dirty="0"/>
              <a:t>you?” Explaining the predictions of any classifier. </a:t>
            </a:r>
            <a:br>
              <a:rPr lang="en-GB" dirty="0"/>
            </a:b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574743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017EB-A4A6-4DF2-88A1-11F20619E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Lime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0A394B-BE5A-4230-9C64-8C3E78B9D4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51967" cy="4351338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Example: Local explanation to an instance of the data</a:t>
            </a:r>
          </a:p>
          <a:p>
            <a:endParaRPr lang="nl-NL" dirty="0"/>
          </a:p>
          <a:p>
            <a:r>
              <a:rPr lang="en-GB" sz="2400" dirty="0"/>
              <a:t>Weighted perturbed samples shown </a:t>
            </a:r>
            <a:r>
              <a:rPr lang="nl-NL" sz="2400" dirty="0"/>
              <a:t>as crosses/</a:t>
            </a:r>
            <a:r>
              <a:rPr lang="en-GB" sz="2400" dirty="0"/>
              <a:t>circles</a:t>
            </a:r>
          </a:p>
          <a:p>
            <a:r>
              <a:rPr lang="en-GB" sz="2400" dirty="0"/>
              <a:t>Dashed line is the explanation</a:t>
            </a:r>
          </a:p>
          <a:p>
            <a:r>
              <a:rPr lang="en-GB" sz="2400" dirty="0"/>
              <a:t>Background colour represents the model’s (non-linear) decision boundary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506DAA-8EFB-47DF-BE8D-9A711E58D98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12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CB1F207-EA06-41DA-AA5E-1D8B682A90FD}"/>
              </a:ext>
            </a:extLst>
          </p:cNvPr>
          <p:cNvGrpSpPr/>
          <p:nvPr/>
        </p:nvGrpSpPr>
        <p:grpSpPr>
          <a:xfrm>
            <a:off x="6588309" y="1825625"/>
            <a:ext cx="5267325" cy="3553599"/>
            <a:chOff x="1931249" y="3127597"/>
            <a:chExt cx="5267325" cy="3553599"/>
          </a:xfrm>
        </p:grpSpPr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5BD6C519-13D0-4E35-BA9B-BE4385AEE5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31249" y="3127597"/>
              <a:ext cx="5267325" cy="32766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134EDD2-5AED-4A6B-8AC1-17B6C48B9797}"/>
                </a:ext>
              </a:extLst>
            </p:cNvPr>
            <p:cNvSpPr txBox="1"/>
            <p:nvPr/>
          </p:nvSpPr>
          <p:spPr>
            <a:xfrm>
              <a:off x="1931249" y="6404197"/>
              <a:ext cx="526732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100" dirty="0"/>
                <a:t>Source: </a:t>
              </a:r>
              <a:r>
                <a:rPr lang="en-GB" sz="1200" dirty="0">
                  <a:hlinkClick r:id="rId3"/>
                </a:rPr>
                <a:t>https://github.com/marcotcr/lime</a:t>
              </a:r>
              <a:endParaRPr lang="en-GB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30645861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48525F-961E-4FA3-BF09-989E5A432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Shap</a:t>
            </a:r>
            <a:r>
              <a:rPr lang="nl-NL" baseline="30000" dirty="0"/>
              <a:t> </a:t>
            </a:r>
            <a:r>
              <a:rPr lang="nl-NL" sz="3200" baseline="30000" dirty="0"/>
              <a:t>[2]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B46180-97FD-4081-B53C-98479B31BF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8465289" cy="4351338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Shap values are the most </a:t>
            </a:r>
            <a:r>
              <a:rPr lang="en-GB" dirty="0">
                <a:solidFill>
                  <a:srgbClr val="FF9500"/>
                </a:solidFill>
              </a:rPr>
              <a:t>consistent</a:t>
            </a:r>
            <a:r>
              <a:rPr lang="en-GB" dirty="0"/>
              <a:t> and computationally viable values for a linear explanation model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>
                <a:solidFill>
                  <a:srgbClr val="FF9500"/>
                </a:solidFill>
              </a:rPr>
              <a:t>Consistency </a:t>
            </a:r>
            <a:r>
              <a:rPr lang="en-GB" dirty="0"/>
              <a:t>is defined by three properties: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Local accuracy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Missingness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Consistency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4E1F10-C068-461B-8AAF-82551180EAB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13</a:t>
            </a:fld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FC7F0A9-5F6B-4196-A58E-99A6327C367C}"/>
              </a:ext>
            </a:extLst>
          </p:cNvPr>
          <p:cNvSpPr txBox="1">
            <a:spLocks/>
          </p:cNvSpPr>
          <p:nvPr/>
        </p:nvSpPr>
        <p:spPr>
          <a:xfrm>
            <a:off x="838199" y="6255535"/>
            <a:ext cx="7295707" cy="237340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4800" dirty="0"/>
              <a:t>[2] Lundberg, S. M., &amp; Lee, S. I. (2017). A unified approach to interpreting model predictions.</a:t>
            </a:r>
            <a:br>
              <a:rPr lang="en-GB" sz="4800" dirty="0"/>
            </a:b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890778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48525F-961E-4FA3-BF09-989E5A432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Shap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B46180-97FD-4081-B53C-98479B31BF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Why are Shap values most consistent?</a:t>
            </a:r>
          </a:p>
          <a:p>
            <a:r>
              <a:rPr lang="en-GB" dirty="0"/>
              <a:t>Shapley values </a:t>
            </a:r>
            <a:r>
              <a:rPr lang="nl-NL" baseline="30000" dirty="0">
                <a:latin typeface="+mj-lt"/>
              </a:rPr>
              <a:t>[3]</a:t>
            </a:r>
          </a:p>
          <a:p>
            <a:endParaRPr lang="nl-NL" baseline="30000" dirty="0">
              <a:latin typeface="+mj-lt"/>
            </a:endParaRPr>
          </a:p>
          <a:p>
            <a:pPr marL="0" indent="0">
              <a:buNone/>
            </a:pPr>
            <a:r>
              <a:rPr lang="en-GB" dirty="0"/>
              <a:t>Why are Shap values computationally viable?</a:t>
            </a:r>
          </a:p>
          <a:p>
            <a:r>
              <a:rPr lang="en-GB" dirty="0"/>
              <a:t>Shap Kernel</a:t>
            </a:r>
          </a:p>
          <a:p>
            <a:pPr lvl="1"/>
            <a:r>
              <a:rPr lang="en-GB" dirty="0"/>
              <a:t>Model-agnostic</a:t>
            </a:r>
          </a:p>
          <a:p>
            <a:pPr lvl="1"/>
            <a:r>
              <a:rPr lang="en-GB" dirty="0"/>
              <a:t>Improved sample efficiency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4E1F10-C068-461B-8AAF-82551180EAB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14</a:t>
            </a:fld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FC7F0A9-5F6B-4196-A58E-99A6327C367C}"/>
              </a:ext>
            </a:extLst>
          </p:cNvPr>
          <p:cNvSpPr txBox="1">
            <a:spLocks/>
          </p:cNvSpPr>
          <p:nvPr/>
        </p:nvSpPr>
        <p:spPr>
          <a:xfrm>
            <a:off x="838199" y="6255535"/>
            <a:ext cx="7295707" cy="237340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4800" dirty="0"/>
              <a:t>[3] Shapley, L. S. (1953). A value for n-person games.</a:t>
            </a:r>
            <a:br>
              <a:rPr lang="en-GB" sz="4800" dirty="0"/>
            </a:b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593C3AF-39D1-40A0-8AF0-701C4D2969F3}"/>
              </a:ext>
            </a:extLst>
          </p:cNvPr>
          <p:cNvGrpSpPr/>
          <p:nvPr/>
        </p:nvGrpSpPr>
        <p:grpSpPr>
          <a:xfrm>
            <a:off x="8357192" y="3429000"/>
            <a:ext cx="2635101" cy="1972340"/>
            <a:chOff x="1931249" y="3127597"/>
            <a:chExt cx="5267325" cy="3553599"/>
          </a:xfrm>
        </p:grpSpPr>
        <p:pic>
          <p:nvPicPr>
            <p:cNvPr id="7" name="Picture 2">
              <a:extLst>
                <a:ext uri="{FF2B5EF4-FFF2-40B4-BE49-F238E27FC236}">
                  <a16:creationId xmlns:a16="http://schemas.microsoft.com/office/drawing/2014/main" id="{26A5954A-D996-4C1F-A321-DCD3E819C6A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31249" y="3127597"/>
              <a:ext cx="5267325" cy="32766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FAE2439-21FD-4EB5-9CDB-90F45BCB63E6}"/>
                </a:ext>
              </a:extLst>
            </p:cNvPr>
            <p:cNvSpPr txBox="1"/>
            <p:nvPr/>
          </p:nvSpPr>
          <p:spPr>
            <a:xfrm>
              <a:off x="1931249" y="6404197"/>
              <a:ext cx="526732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sz="1100" dirty="0"/>
                <a:t>Source: </a:t>
              </a:r>
              <a:r>
                <a:rPr lang="en-GB" sz="1200" dirty="0">
                  <a:hlinkClick r:id="rId3"/>
                </a:rPr>
                <a:t>https://github.com/marcotcr/lime</a:t>
              </a:r>
              <a:endParaRPr lang="en-GB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32535030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07C3E9-696B-449A-81C4-81C664D3C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NDCG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D811A2-BE50-4563-8939-B06C91C4AD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Normalized Discounted Cumulative Gain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Interpretation:</a:t>
            </a:r>
          </a:p>
          <a:p>
            <a:pPr marL="0" indent="0">
              <a:buNone/>
            </a:pPr>
            <a:r>
              <a:rPr lang="en-GB" dirty="0"/>
              <a:t>Measurement of ranking quality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899FD5-29BF-40AF-8066-31E1A11189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0235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C2C56-2D48-4256-9386-41C16CC84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Faithfulness</a:t>
            </a:r>
            <a:r>
              <a:rPr lang="nl-NL" sz="3200" baseline="30000" dirty="0"/>
              <a:t> [4]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DC080F-D8E3-494C-9395-800CEB5343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339316" cy="4351338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Interpretation: </a:t>
            </a:r>
          </a:p>
          <a:p>
            <a:pPr marL="0" indent="0">
              <a:buNone/>
            </a:pPr>
            <a:r>
              <a:rPr lang="en-GB" dirty="0"/>
              <a:t>Quality of a linear explanation</a:t>
            </a:r>
          </a:p>
          <a:p>
            <a:pPr marL="0" indent="0">
              <a:buNone/>
            </a:pPr>
            <a:endParaRPr lang="en-GB" dirty="0"/>
          </a:p>
          <a:p>
            <a:pPr marL="457200" indent="-457200">
              <a:buFont typeface="+mj-lt"/>
              <a:buAutoNum type="arabicPeriod"/>
            </a:pPr>
            <a:r>
              <a:rPr lang="en-GB" sz="2400" dirty="0"/>
              <a:t>Given an explanation, in order of feature importance, perturb a value of an instance and record model’s output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/>
              <a:t>Repeat for all features in explanation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/>
              <a:t>Calculate Pearson correlation</a:t>
            </a:r>
          </a:p>
          <a:p>
            <a:pPr marL="457200" indent="-457200">
              <a:buFont typeface="+mj-lt"/>
              <a:buAutoNum type="arabicPeriod"/>
            </a:pPr>
            <a:endParaRPr lang="en-GB" sz="2400" dirty="0"/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endParaRPr lang="en-GB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F21EE1-F513-4DC1-8FB9-A7C75BC445A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16</a:t>
            </a:fld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67F83B9-9079-417A-9115-D1A55B79D421}"/>
              </a:ext>
            </a:extLst>
          </p:cNvPr>
          <p:cNvSpPr txBox="1">
            <a:spLocks/>
          </p:cNvSpPr>
          <p:nvPr/>
        </p:nvSpPr>
        <p:spPr>
          <a:xfrm>
            <a:off x="6602823" y="1825625"/>
            <a:ext cx="533931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dirty="0"/>
              <a:t>Definition: 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l-GR" sz="4000" dirty="0">
                <a:solidFill>
                  <a:srgbClr val="FFC000"/>
                </a:solidFill>
              </a:rPr>
              <a:t>ϴ</a:t>
            </a:r>
            <a:r>
              <a:rPr lang="nl-NL" sz="4000" dirty="0"/>
              <a:t> </a:t>
            </a:r>
            <a:r>
              <a:rPr lang="en-GB" sz="2400" dirty="0"/>
              <a:t>Vector of (absolute) feature attributions</a:t>
            </a:r>
            <a:endParaRPr lang="en-GB" sz="2000" dirty="0"/>
          </a:p>
          <a:p>
            <a:pPr marL="0" indent="0">
              <a:buNone/>
            </a:pPr>
            <a:r>
              <a:rPr lang="en-GB" sz="4000" i="1" dirty="0">
                <a:solidFill>
                  <a:srgbClr val="0070C0"/>
                </a:solidFill>
              </a:rPr>
              <a:t>P </a:t>
            </a:r>
            <a:r>
              <a:rPr lang="en-GB" sz="2400" dirty="0"/>
              <a:t>Vector of model’s output, given instance with perturbed feature</a:t>
            </a:r>
          </a:p>
          <a:p>
            <a:pPr marL="0" indent="0">
              <a:buNone/>
            </a:pPr>
            <a:r>
              <a:rPr lang="en-GB" sz="600" i="1" dirty="0">
                <a:solidFill>
                  <a:srgbClr val="0070C0"/>
                </a:solidFill>
              </a:rPr>
              <a:t> </a:t>
            </a:r>
            <a:endParaRPr lang="en-GB" sz="2400" i="1" dirty="0">
              <a:solidFill>
                <a:srgbClr val="0070C0"/>
              </a:solidFill>
            </a:endParaRPr>
          </a:p>
          <a:p>
            <a:pPr marL="0" indent="0" algn="ctr">
              <a:buNone/>
            </a:pPr>
            <a:r>
              <a:rPr lang="en-GB" sz="1800" dirty="0"/>
              <a:t>Faithfulness</a:t>
            </a:r>
            <a:r>
              <a:rPr lang="en-GB" sz="2400" dirty="0"/>
              <a:t> </a:t>
            </a:r>
            <a:r>
              <a:rPr lang="el-GR" sz="4000" dirty="0"/>
              <a:t>ϕ</a:t>
            </a:r>
            <a:r>
              <a:rPr lang="nl-NL" sz="2400" dirty="0"/>
              <a:t> </a:t>
            </a:r>
            <a:r>
              <a:rPr lang="en-GB" sz="2400" dirty="0"/>
              <a:t>= -</a:t>
            </a:r>
            <a:r>
              <a:rPr lang="nl-NL" sz="2400" dirty="0"/>
              <a:t>cor</a:t>
            </a:r>
            <a:r>
              <a:rPr lang="en-GB" sz="2400" dirty="0"/>
              <a:t>(</a:t>
            </a:r>
            <a:r>
              <a:rPr lang="el-GR" sz="2400" dirty="0">
                <a:solidFill>
                  <a:srgbClr val="FFC000"/>
                </a:solidFill>
              </a:rPr>
              <a:t>ϴ</a:t>
            </a:r>
            <a:r>
              <a:rPr lang="nl-NL" sz="2400" dirty="0"/>
              <a:t>,</a:t>
            </a:r>
            <a:r>
              <a:rPr lang="en-GB" sz="2400" i="1" dirty="0">
                <a:solidFill>
                  <a:srgbClr val="0070C0"/>
                </a:solidFill>
              </a:rPr>
              <a:t>P</a:t>
            </a:r>
            <a:r>
              <a:rPr lang="en-GB" sz="2400" dirty="0"/>
              <a:t>)</a:t>
            </a:r>
            <a:endParaRPr lang="en-GB" dirty="0"/>
          </a:p>
          <a:p>
            <a:pPr marL="0" indent="0">
              <a:buFont typeface="Arial" panose="020B0604020202020204" pitchFamily="34" charset="0"/>
              <a:buNone/>
            </a:pPr>
            <a:endParaRPr lang="en-GB" sz="2400" dirty="0"/>
          </a:p>
          <a:p>
            <a:pPr marL="0" indent="0">
              <a:buFont typeface="Arial" panose="020B0604020202020204" pitchFamily="34" charset="0"/>
              <a:buNone/>
            </a:pPr>
            <a:endParaRPr lang="en-GB" sz="24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B2DC76D-F565-48BD-9121-F58982E16FCD}"/>
              </a:ext>
            </a:extLst>
          </p:cNvPr>
          <p:cNvCxnSpPr/>
          <p:nvPr/>
        </p:nvCxnSpPr>
        <p:spPr>
          <a:xfrm>
            <a:off x="6148699" y="1949302"/>
            <a:ext cx="0" cy="3618614"/>
          </a:xfrm>
          <a:prstGeom prst="line">
            <a:avLst/>
          </a:prstGeom>
          <a:ln w="57150" cmpd="sng">
            <a:solidFill>
              <a:schemeClr val="tx1"/>
            </a:solidFill>
            <a:prstDash val="solid"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BF679379-60A6-4BC7-911F-2F1161020D09}"/>
              </a:ext>
            </a:extLst>
          </p:cNvPr>
          <p:cNvSpPr/>
          <p:nvPr/>
        </p:nvSpPr>
        <p:spPr>
          <a:xfrm>
            <a:off x="8325293" y="5682770"/>
            <a:ext cx="3028507" cy="722903"/>
          </a:xfrm>
          <a:prstGeom prst="rect">
            <a:avLst/>
          </a:prstGeom>
          <a:solidFill>
            <a:srgbClr val="F8F9F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A389CEF-0F2E-4890-B23F-41CA1619A851}"/>
              </a:ext>
            </a:extLst>
          </p:cNvPr>
          <p:cNvSpPr txBox="1">
            <a:spLocks/>
          </p:cNvSpPr>
          <p:nvPr/>
        </p:nvSpPr>
        <p:spPr>
          <a:xfrm>
            <a:off x="838199" y="6255535"/>
            <a:ext cx="7295707" cy="237340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4800" dirty="0"/>
              <a:t>[4] Arya, V., et al. (2019). One Explanation Does Not Fit All: A Toolkit and Taxonomy of AI </a:t>
            </a:r>
            <a:r>
              <a:rPr lang="en-GB" sz="4800" dirty="0" err="1"/>
              <a:t>Explainability</a:t>
            </a:r>
            <a:r>
              <a:rPr lang="en-GB" sz="4800" dirty="0"/>
              <a:t> Techniques.</a:t>
            </a:r>
            <a:br>
              <a:rPr lang="en-GB" sz="4800" dirty="0"/>
            </a:b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489509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2614B-6B64-4A69-AEF1-313AC5650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Synthetic data generation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D8821D-3754-4678-9BD2-2CA3411A5F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993775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Generate data so that the number of informative features and levels of </a:t>
            </a:r>
            <a:r>
              <a:rPr lang="en-GB" dirty="0">
                <a:solidFill>
                  <a:srgbClr val="FF9500"/>
                </a:solidFill>
              </a:rPr>
              <a:t>noise </a:t>
            </a:r>
            <a:r>
              <a:rPr lang="en-GB" dirty="0"/>
              <a:t>and</a:t>
            </a:r>
            <a:r>
              <a:rPr lang="en-GB" dirty="0">
                <a:solidFill>
                  <a:srgbClr val="FF9500"/>
                </a:solidFill>
              </a:rPr>
              <a:t> </a:t>
            </a:r>
            <a:r>
              <a:rPr lang="en-GB" dirty="0">
                <a:solidFill>
                  <a:schemeClr val="accent5">
                    <a:lumMod val="50000"/>
                  </a:schemeClr>
                </a:solidFill>
              </a:rPr>
              <a:t>redundancy </a:t>
            </a:r>
            <a:r>
              <a:rPr lang="en-GB" dirty="0"/>
              <a:t>can be controlled.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569D8E-6731-4F3D-A163-14AAD67EBF6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17</a:t>
            </a:fld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DE6521D-A27B-448B-8808-40512BFE87CD}"/>
              </a:ext>
            </a:extLst>
          </p:cNvPr>
          <p:cNvSpPr txBox="1">
            <a:spLocks/>
          </p:cNvSpPr>
          <p:nvPr/>
        </p:nvSpPr>
        <p:spPr>
          <a:xfrm>
            <a:off x="838199" y="2598737"/>
            <a:ext cx="8969829" cy="30182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en-GB" dirty="0"/>
          </a:p>
          <a:p>
            <a:r>
              <a:rPr lang="en-GB" dirty="0">
                <a:solidFill>
                  <a:srgbClr val="FF9500"/>
                </a:solidFill>
              </a:rPr>
              <a:t>Noise</a:t>
            </a:r>
            <a:r>
              <a:rPr lang="en-GB" dirty="0"/>
              <a:t> is created by replacing the target variable with a randomly selected output value</a:t>
            </a:r>
          </a:p>
          <a:p>
            <a:endParaRPr lang="en-GB" sz="1050" dirty="0"/>
          </a:p>
          <a:p>
            <a:r>
              <a:rPr lang="en-GB" dirty="0">
                <a:solidFill>
                  <a:schemeClr val="accent5">
                    <a:lumMod val="50000"/>
                  </a:schemeClr>
                </a:solidFill>
              </a:rPr>
              <a:t>Redundancy</a:t>
            </a:r>
            <a:r>
              <a:rPr lang="en-GB" dirty="0"/>
              <a:t> comes from the creation of new features that are random linear combinations of informative features</a:t>
            </a:r>
          </a:p>
        </p:txBody>
      </p:sp>
    </p:spTree>
    <p:extLst>
      <p:ext uri="{BB962C8B-B14F-4D97-AF65-F5344CB8AC3E}">
        <p14:creationId xmlns:p14="http://schemas.microsoft.com/office/powerpoint/2010/main" val="3071686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9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72483A1-64B6-CD40-A3EC-DC33036ACA34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>
          <a:xfrm flipH="1">
            <a:off x="11449455" y="6537474"/>
            <a:ext cx="383630" cy="135700"/>
          </a:xfrm>
        </p:spPr>
        <p:txBody>
          <a:bodyPr/>
          <a:lstStyle/>
          <a:p>
            <a:fld id="{90CBDC3A-D49F-4631-A8C7-55D59B33E5FA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F34CA1B-F09A-CA40-8E0C-68999908644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38565" y="3447508"/>
            <a:ext cx="7394112" cy="2836560"/>
          </a:xfrm>
        </p:spPr>
        <p:txBody>
          <a:bodyPr>
            <a:normAutofit/>
          </a:bodyPr>
          <a:lstStyle/>
          <a:p>
            <a:r>
              <a:rPr lang="en-AU" dirty="0"/>
              <a:t>Experiment 5.2</a:t>
            </a:r>
          </a:p>
          <a:p>
            <a:pPr marL="0" indent="0">
              <a:buNone/>
            </a:pPr>
            <a:r>
              <a:rPr lang="en-AU" dirty="0"/>
              <a:t>   ”Are explanations faithful to the model”</a:t>
            </a:r>
          </a:p>
          <a:p>
            <a:r>
              <a:rPr lang="en-AU" dirty="0"/>
              <a:t>Experiment 5.3</a:t>
            </a:r>
          </a:p>
          <a:p>
            <a:pPr marL="0" indent="0">
              <a:buNone/>
            </a:pPr>
            <a:r>
              <a:rPr lang="en-AU" dirty="0"/>
              <a:t>   ”Should I trust this prediction”</a:t>
            </a:r>
          </a:p>
        </p:txBody>
      </p:sp>
      <p:sp>
        <p:nvSpPr>
          <p:cNvPr id="26" name="Title 25">
            <a:extLst>
              <a:ext uri="{FF2B5EF4-FFF2-40B4-BE49-F238E27FC236}">
                <a16:creationId xmlns:a16="http://schemas.microsoft.com/office/drawing/2014/main" id="{38CB3D8A-940A-304B-9647-4026C3D1B3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2021" y="2652012"/>
            <a:ext cx="7394112" cy="850033"/>
          </a:xfrm>
        </p:spPr>
        <p:txBody>
          <a:bodyPr/>
          <a:lstStyle/>
          <a:p>
            <a:r>
              <a:rPr lang="en-US" dirty="0"/>
              <a:t>Experimental setup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F095F4E-36DF-496C-B334-F8A206DE93B9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52133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74FA1-E011-455F-80EA-F81308E30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Simulated user experiments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81EC1-623E-4021-8E6C-4F9227EB10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Evaluation of model explanation methods is difficult</a:t>
            </a:r>
          </a:p>
          <a:p>
            <a:pPr lvl="1"/>
            <a:r>
              <a:rPr lang="en-GB" dirty="0"/>
              <a:t>Usage of experiments for quantitative evaluation</a:t>
            </a:r>
          </a:p>
          <a:p>
            <a:pPr lvl="1"/>
            <a:endParaRPr lang="en-GB" dirty="0"/>
          </a:p>
          <a:p>
            <a:r>
              <a:rPr lang="en-GB" dirty="0"/>
              <a:t>The experiments are constructed so that the working of the explanation method can be assessed</a:t>
            </a:r>
          </a:p>
          <a:p>
            <a:pPr lvl="1"/>
            <a:r>
              <a:rPr lang="en-GB" dirty="0"/>
              <a:t>A ‘golden standard’ is constructed</a:t>
            </a:r>
          </a:p>
          <a:p>
            <a:pPr lvl="1"/>
            <a:endParaRPr lang="en-GB" dirty="0"/>
          </a:p>
          <a:p>
            <a:r>
              <a:rPr lang="en-GB" dirty="0"/>
              <a:t>Maximum budget of K=10 features for each explanation</a:t>
            </a:r>
          </a:p>
          <a:p>
            <a:endParaRPr lang="en-GB" dirty="0"/>
          </a:p>
          <a:p>
            <a:r>
              <a:rPr lang="en-GB" dirty="0"/>
              <a:t>An older model explainer called </a:t>
            </a:r>
            <a:r>
              <a:rPr lang="en-GB" dirty="0" err="1"/>
              <a:t>Parzen</a:t>
            </a:r>
            <a:r>
              <a:rPr lang="en-GB" dirty="0"/>
              <a:t> is included in the experiments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3CBBE7-F0E0-4F85-965A-09D9BA360A8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30129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74FA1-E011-455F-80EA-F81308E30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81EC1-623E-4021-8E6C-4F9227EB10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498804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sz="2600" dirty="0"/>
              <a:t>Real-world data:</a:t>
            </a:r>
          </a:p>
          <a:p>
            <a:r>
              <a:rPr lang="en-GB" sz="2600" dirty="0"/>
              <a:t>Data consists of product reviews from Amazon.com</a:t>
            </a:r>
          </a:p>
          <a:p>
            <a:pPr lvl="1"/>
            <a:r>
              <a:rPr lang="en-GB" sz="2200" dirty="0"/>
              <a:t>Three domains: Books, DVDs and kitchen products</a:t>
            </a:r>
          </a:p>
          <a:p>
            <a:r>
              <a:rPr lang="en-GB" sz="2600" dirty="0"/>
              <a:t>A review is labelled as positive or negative</a:t>
            </a:r>
          </a:p>
          <a:p>
            <a:r>
              <a:rPr lang="en-GB" sz="2600" dirty="0"/>
              <a:t>Words are features</a:t>
            </a:r>
          </a:p>
          <a:p>
            <a:r>
              <a:rPr lang="en-GB" sz="2600" dirty="0"/>
              <a:t>Predictive models perform sentiment analysis</a:t>
            </a:r>
          </a:p>
          <a:p>
            <a:r>
              <a:rPr lang="en-GB" sz="2600" dirty="0"/>
              <a:t>Approximately 20,000 features per dataset</a:t>
            </a:r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3CBBE7-F0E0-4F85-965A-09D9BA360A8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20</a:t>
            </a:fld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5510AAD-B3B9-451A-825E-0799C4FC49CC}"/>
              </a:ext>
            </a:extLst>
          </p:cNvPr>
          <p:cNvSpPr txBox="1">
            <a:spLocks/>
          </p:cNvSpPr>
          <p:nvPr/>
        </p:nvSpPr>
        <p:spPr>
          <a:xfrm>
            <a:off x="6539024" y="1825625"/>
            <a:ext cx="5411972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600" dirty="0"/>
              <a:t>Synthetic data:</a:t>
            </a:r>
          </a:p>
          <a:p>
            <a:r>
              <a:rPr lang="en-GB" sz="2600" dirty="0"/>
              <a:t>50 total features</a:t>
            </a:r>
          </a:p>
          <a:p>
            <a:r>
              <a:rPr lang="en-GB" sz="2600" dirty="0"/>
              <a:t>10 informative features</a:t>
            </a:r>
          </a:p>
          <a:p>
            <a:endParaRPr lang="en-GB" sz="2600" dirty="0"/>
          </a:p>
          <a:p>
            <a:r>
              <a:rPr lang="en-GB" sz="2600" dirty="0"/>
              <a:t>0 or 15 </a:t>
            </a:r>
            <a:r>
              <a:rPr lang="en-GB" sz="2600" dirty="0">
                <a:solidFill>
                  <a:schemeClr val="accent5">
                    <a:lumMod val="50000"/>
                  </a:schemeClr>
                </a:solidFill>
              </a:rPr>
              <a:t>redundant </a:t>
            </a:r>
            <a:r>
              <a:rPr lang="en-GB" sz="2600" dirty="0"/>
              <a:t>features</a:t>
            </a:r>
          </a:p>
          <a:p>
            <a:pPr marL="0" indent="0">
              <a:buNone/>
            </a:pPr>
            <a:r>
              <a:rPr lang="en-GB" sz="2600" dirty="0"/>
              <a:t>Left-over features are filled with random useless features</a:t>
            </a:r>
            <a:endParaRPr lang="en-GB" sz="2400" dirty="0"/>
          </a:p>
          <a:p>
            <a:r>
              <a:rPr lang="en-GB" sz="2600" dirty="0"/>
              <a:t>5% or 30% </a:t>
            </a:r>
            <a:r>
              <a:rPr lang="en-GB" sz="2600" dirty="0">
                <a:solidFill>
                  <a:srgbClr val="FF9500"/>
                </a:solidFill>
              </a:rPr>
              <a:t>noise</a:t>
            </a:r>
          </a:p>
          <a:p>
            <a:endParaRPr lang="en-GB" sz="2200" dirty="0"/>
          </a:p>
          <a:p>
            <a:pPr marL="457200" lvl="1" indent="0">
              <a:buFont typeface="Arial" panose="020B0604020202020204" pitchFamily="34" charset="0"/>
              <a:buNone/>
            </a:pPr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8274B3D-1C8A-4B3F-A8D3-C595FBB8AF30}"/>
              </a:ext>
            </a:extLst>
          </p:cNvPr>
          <p:cNvCxnSpPr/>
          <p:nvPr/>
        </p:nvCxnSpPr>
        <p:spPr>
          <a:xfrm>
            <a:off x="6180595" y="2161958"/>
            <a:ext cx="0" cy="3618614"/>
          </a:xfrm>
          <a:prstGeom prst="line">
            <a:avLst/>
          </a:prstGeom>
          <a:ln w="57150" cmpd="sng">
            <a:solidFill>
              <a:schemeClr val="tx1"/>
            </a:solidFill>
            <a:prstDash val="solid"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06232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74FA1-E011-455F-80EA-F81308E30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Lime experiment 5.2   </a:t>
            </a:r>
            <a:r>
              <a:rPr lang="en-GB" sz="2400" dirty="0"/>
              <a:t>”Are explanations faithful to the model”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81EC1-623E-4021-8E6C-4F9227EB10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Machine learning models are used that are interpretable by themselves</a:t>
            </a:r>
          </a:p>
          <a:p>
            <a:pPr lvl="1"/>
            <a:r>
              <a:rPr lang="en-GB" dirty="0"/>
              <a:t>Sparse logistic regression</a:t>
            </a:r>
          </a:p>
          <a:p>
            <a:pPr lvl="1"/>
            <a:r>
              <a:rPr lang="en-GB" dirty="0"/>
              <a:t>Decision tree</a:t>
            </a:r>
          </a:p>
          <a:p>
            <a:r>
              <a:rPr lang="en-GB" dirty="0"/>
              <a:t>They are restricted to max K=10 features for each instance</a:t>
            </a:r>
          </a:p>
          <a:p>
            <a:r>
              <a:rPr lang="en-GB" dirty="0"/>
              <a:t>A golden set of features is known for these models</a:t>
            </a:r>
          </a:p>
          <a:p>
            <a:r>
              <a:rPr lang="en-GB" dirty="0"/>
              <a:t>Golden standard can be compared to explanations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3CBBE7-F0E0-4F85-965A-09D9BA360A8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53165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74FA1-E011-455F-80EA-F81308E30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Lime experiment 5.2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81EC1-623E-4021-8E6C-4F9227EB10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Measure performance using recall and NDCG</a:t>
            </a:r>
          </a:p>
          <a:p>
            <a:r>
              <a:rPr lang="en-GB" dirty="0"/>
              <a:t>Budget of 15,000 samples </a:t>
            </a:r>
          </a:p>
          <a:p>
            <a:r>
              <a:rPr lang="en-GB" dirty="0"/>
              <a:t>Faithfulness metric</a:t>
            </a:r>
          </a:p>
          <a:p>
            <a:pPr lvl="1"/>
            <a:r>
              <a:rPr lang="en-GB" dirty="0"/>
              <a:t>Undefined for small explanations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3CBBE7-F0E0-4F85-965A-09D9BA360A8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21920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74FA1-E011-455F-80EA-F81308E30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Experiment 5.2 - improvements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81EC1-623E-4021-8E6C-4F9227EB10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794358" cy="4351338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arenR"/>
            </a:pPr>
            <a:r>
              <a:rPr lang="en-GB" dirty="0"/>
              <a:t>Number of golden features per instance</a:t>
            </a:r>
          </a:p>
          <a:p>
            <a:pPr marL="0" indent="0">
              <a:buNone/>
            </a:pPr>
            <a:r>
              <a:rPr lang="en-GB" sz="2000" dirty="0"/>
              <a:t>Increased the average number of golden features for the logistic regression model from 2-3 </a:t>
            </a:r>
            <a:r>
              <a:rPr lang="en-GB" sz="2000" dirty="0">
                <a:sym typeface="Wingdings" panose="05000000000000000000" pitchFamily="2" charset="2"/>
              </a:rPr>
              <a:t> approximately 10</a:t>
            </a:r>
            <a:endParaRPr lang="en-GB" sz="2400" dirty="0"/>
          </a:p>
          <a:p>
            <a:pPr marL="0" indent="0">
              <a:buNone/>
            </a:pPr>
            <a:endParaRPr lang="en-GB" dirty="0"/>
          </a:p>
          <a:p>
            <a:pPr marL="514350" indent="-514350">
              <a:buFont typeface="+mj-lt"/>
              <a:buAutoNum type="arabicParenR" startAt="2"/>
            </a:pPr>
            <a:r>
              <a:rPr lang="en-GB" dirty="0"/>
              <a:t>Ranking of explained features</a:t>
            </a:r>
          </a:p>
          <a:p>
            <a:pPr marL="0" indent="0">
              <a:buNone/>
            </a:pPr>
            <a:r>
              <a:rPr lang="en-GB" sz="2000" dirty="0"/>
              <a:t>Evaluate ranking of features with NDCG:</a:t>
            </a:r>
          </a:p>
          <a:p>
            <a:pPr lvl="1"/>
            <a:r>
              <a:rPr lang="en-GB" sz="1800" dirty="0"/>
              <a:t>Linear model: feature coefficient</a:t>
            </a:r>
          </a:p>
          <a:p>
            <a:pPr lvl="1"/>
            <a:r>
              <a:rPr lang="en-GB" sz="1800" dirty="0"/>
              <a:t>Decision tree: variable importance</a:t>
            </a:r>
          </a:p>
          <a:p>
            <a:pPr marL="0" indent="0">
              <a:buNone/>
            </a:pPr>
            <a:r>
              <a:rPr lang="en-GB" sz="2000" dirty="0"/>
              <a:t>Penalize large explanations using recall</a:t>
            </a:r>
            <a:endParaRPr lang="en-GB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3CBBE7-F0E0-4F85-965A-09D9BA360A8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52319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74FA1-E011-455F-80EA-F81308E30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Lime experiment 5.3   </a:t>
            </a:r>
            <a:r>
              <a:rPr lang="en-GB" sz="2400" dirty="0"/>
              <a:t>”Should I trust this prediction”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81EC1-623E-4021-8E6C-4F9227EB10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7567" y="1825625"/>
            <a:ext cx="10515600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The (simulated) user is able to identify untrustworthy features</a:t>
            </a:r>
          </a:p>
          <a:p>
            <a:pPr lvl="1"/>
            <a:r>
              <a:rPr lang="en-GB" dirty="0"/>
              <a:t>Consider the impact of untrustworthy features on both model and explanations</a:t>
            </a:r>
          </a:p>
          <a:p>
            <a:pPr lvl="1"/>
            <a:r>
              <a:rPr lang="en-GB" dirty="0"/>
              <a:t>The user ‘discounts’ untrustworthy features</a:t>
            </a:r>
          </a:p>
          <a:p>
            <a:pPr lvl="1"/>
            <a:endParaRPr lang="en-GB" dirty="0"/>
          </a:p>
          <a:p>
            <a:r>
              <a:rPr lang="en-GB" dirty="0"/>
              <a:t>Classification of the explanation and model should be equal after discounting untrustworthy features</a:t>
            </a:r>
          </a:p>
          <a:p>
            <a:pPr lvl="1"/>
            <a:r>
              <a:rPr lang="en-GB" dirty="0"/>
              <a:t>Measure performance using recall and precision</a:t>
            </a:r>
          </a:p>
          <a:p>
            <a:pPr lvl="1"/>
            <a:r>
              <a:rPr lang="en-GB" dirty="0"/>
              <a:t>F1 metric is reported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	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3CBBE7-F0E0-4F85-965A-09D9BA360A8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98459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74FA1-E011-455F-80EA-F81308E30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Lime experiment 5.3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81EC1-623E-4021-8E6C-4F9227EB10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7567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Experiment can be performed on any predictive model</a:t>
            </a:r>
          </a:p>
          <a:p>
            <a:pPr marL="0" indent="0">
              <a:buNone/>
            </a:pPr>
            <a:r>
              <a:rPr lang="en-GB" sz="2400" dirty="0"/>
              <a:t>Sparse logistic regression (LR), nearest neighbours (NN), random forests (RF), support vector machines (SVM) and decision trees (Tree) are considered</a:t>
            </a:r>
          </a:p>
          <a:p>
            <a:pPr marL="0" indent="0">
              <a:buNone/>
            </a:pPr>
            <a:endParaRPr lang="en-GB" sz="2400" dirty="0"/>
          </a:p>
          <a:p>
            <a:r>
              <a:rPr lang="en-GB" sz="2400" dirty="0"/>
              <a:t>The faithfulness metric is not implemented</a:t>
            </a:r>
          </a:p>
          <a:p>
            <a:pPr lvl="1"/>
            <a:r>
              <a:rPr lang="en-GB" sz="2000" dirty="0"/>
              <a:t>Cannot perform this evaluation by design</a:t>
            </a:r>
            <a:endParaRPr lang="en-GB" dirty="0"/>
          </a:p>
          <a:p>
            <a:pPr marL="0" indent="0">
              <a:buNone/>
            </a:pPr>
            <a:r>
              <a:rPr lang="en-GB" dirty="0"/>
              <a:t>	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3CBBE7-F0E0-4F85-965A-09D9BA360A8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96857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74FA1-E011-455F-80EA-F81308E30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Experiment 5.3 - improvements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81EC1-623E-4021-8E6C-4F9227EB10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7567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Penalization of local inaccuracy</a:t>
            </a:r>
          </a:p>
          <a:p>
            <a:r>
              <a:rPr lang="en-GB" sz="2000" dirty="0"/>
              <a:t>For some instances Lime and </a:t>
            </a:r>
            <a:r>
              <a:rPr lang="en-GB" sz="2000" dirty="0" err="1"/>
              <a:t>Parzen’s</a:t>
            </a:r>
            <a:r>
              <a:rPr lang="en-GB" sz="2000" dirty="0"/>
              <a:t> initial prediction is false</a:t>
            </a:r>
          </a:p>
          <a:p>
            <a:pPr lvl="1"/>
            <a:r>
              <a:rPr lang="en-GB" sz="1600" dirty="0"/>
              <a:t>Shap has local accuracy </a:t>
            </a:r>
            <a:r>
              <a:rPr lang="en-GB" sz="1600" dirty="0" err="1"/>
              <a:t>quarantees</a:t>
            </a:r>
            <a:endParaRPr lang="en-GB" sz="1600" dirty="0"/>
          </a:p>
          <a:p>
            <a:r>
              <a:rPr lang="en-GB" sz="2000" dirty="0"/>
              <a:t>This is measured using a novel ‘accuracy’ score</a:t>
            </a:r>
          </a:p>
          <a:p>
            <a:r>
              <a:rPr lang="en-GB" sz="2000" dirty="0"/>
              <a:t>F1 score is adjusted with the accuracy score </a:t>
            </a:r>
          </a:p>
          <a:p>
            <a:endParaRPr lang="en-GB" sz="2000" dirty="0"/>
          </a:p>
          <a:p>
            <a:pPr marL="0" indent="0">
              <a:buNone/>
            </a:pPr>
            <a:r>
              <a:rPr lang="en-GB" dirty="0"/>
              <a:t>Adjusted F1 score is reported</a:t>
            </a:r>
            <a:endParaRPr lang="en-GB" sz="3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3CBBE7-F0E0-4F85-965A-09D9BA360A8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189260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9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72483A1-64B6-CD40-A3EC-DC33036ACA34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>
          <a:xfrm flipH="1">
            <a:off x="11449455" y="6537474"/>
            <a:ext cx="383630" cy="135700"/>
          </a:xfrm>
        </p:spPr>
        <p:txBody>
          <a:bodyPr/>
          <a:lstStyle/>
          <a:p>
            <a:fld id="{90CBDC3A-D49F-4631-A8C7-55D59B33E5FA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26" name="Title 25">
            <a:extLst>
              <a:ext uri="{FF2B5EF4-FFF2-40B4-BE49-F238E27FC236}">
                <a16:creationId xmlns:a16="http://schemas.microsoft.com/office/drawing/2014/main" id="{38CB3D8A-940A-304B-9647-4026C3D1B3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2021" y="2652012"/>
            <a:ext cx="7394112" cy="850033"/>
          </a:xfrm>
        </p:spPr>
        <p:txBody>
          <a:bodyPr/>
          <a:lstStyle/>
          <a:p>
            <a:r>
              <a:rPr lang="en-US" dirty="0"/>
              <a:t>Results &amp;</a:t>
            </a:r>
            <a:br>
              <a:rPr lang="en-US" dirty="0"/>
            </a:br>
            <a:r>
              <a:rPr lang="en-US" dirty="0"/>
              <a:t>Conclusion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3596093-5C45-4167-970D-FE62BBDE4ACD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88998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F2E31-A112-4DA5-85FB-45712347C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Experiment 5.2 - NDCG</a:t>
            </a:r>
            <a:endParaRPr lang="en-GB" dirty="0"/>
          </a:p>
        </p:txBody>
      </p:sp>
      <p:pic>
        <p:nvPicPr>
          <p:cNvPr id="6" name="Content Placeholder 5" descr="A screenshot of a cell phone&#10;&#10;Description automatically generated">
            <a:extLst>
              <a:ext uri="{FF2B5EF4-FFF2-40B4-BE49-F238E27FC236}">
                <a16:creationId xmlns:a16="http://schemas.microsoft.com/office/drawing/2014/main" id="{2AC80B27-784E-429A-A510-EF377EB5D2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930" y="2110812"/>
            <a:ext cx="5380119" cy="3228072"/>
          </a:xfrm>
          <a:ln>
            <a:solidFill>
              <a:schemeClr val="tx1"/>
            </a:solidFill>
          </a:ln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1F7756-DC50-43C1-95F3-B2456376724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28</a:t>
            </a:fld>
            <a:endParaRPr lang="en-US" dirty="0"/>
          </a:p>
        </p:txBody>
      </p:sp>
      <p:pic>
        <p:nvPicPr>
          <p:cNvPr id="5" name="Content Placeholder 7" descr="A screenshot of a cell phone&#10;&#10;Description automatically generated">
            <a:extLst>
              <a:ext uri="{FF2B5EF4-FFF2-40B4-BE49-F238E27FC236}">
                <a16:creationId xmlns:a16="http://schemas.microsoft.com/office/drawing/2014/main" id="{7905C0B9-52D0-4E34-B220-E96FA4412F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9079" y="2110812"/>
            <a:ext cx="5380119" cy="322807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750240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F2E31-A112-4DA5-85FB-45712347C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Experiment 5.2 - </a:t>
            </a:r>
            <a:r>
              <a:rPr lang="nl-NL" dirty="0" err="1"/>
              <a:t>Faithfulness</a:t>
            </a:r>
            <a:endParaRPr lang="en-GB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2AC80B27-784E-429A-A510-EF377EB5D2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2930" y="2110812"/>
            <a:ext cx="5380119" cy="3228071"/>
          </a:xfrm>
          <a:ln>
            <a:solidFill>
              <a:schemeClr val="tx1"/>
            </a:solidFill>
          </a:ln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1F7756-DC50-43C1-95F3-B2456376724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29</a:t>
            </a:fld>
            <a:endParaRPr lang="en-US" dirty="0"/>
          </a:p>
        </p:txBody>
      </p:sp>
      <p:pic>
        <p:nvPicPr>
          <p:cNvPr id="5" name="Content Placeholder 7">
            <a:extLst>
              <a:ext uri="{FF2B5EF4-FFF2-40B4-BE49-F238E27FC236}">
                <a16:creationId xmlns:a16="http://schemas.microsoft.com/office/drawing/2014/main" id="{7905C0B9-52D0-4E34-B220-E96FA4412F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99079" y="2110812"/>
            <a:ext cx="5380119" cy="322807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6203382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F2E31-A112-4DA5-85FB-45712347C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Experiment 5.3 - </a:t>
            </a:r>
            <a:r>
              <a:rPr lang="nl-NL" dirty="0" err="1"/>
              <a:t>Adjusted</a:t>
            </a:r>
            <a:r>
              <a:rPr lang="nl-NL" dirty="0"/>
              <a:t> F1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1F7756-DC50-43C1-95F3-B2456376724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30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8B5EA63-B76E-4115-9E7C-2B84C0B7CF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1700" y="1858261"/>
            <a:ext cx="7848600" cy="35242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545787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F2E31-A112-4DA5-85FB-45712347C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Experiment 5.3 - </a:t>
            </a:r>
            <a:r>
              <a:rPr lang="nl-NL" dirty="0" err="1"/>
              <a:t>Adjusted</a:t>
            </a:r>
            <a:r>
              <a:rPr lang="nl-NL" dirty="0"/>
              <a:t> F1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1F7756-DC50-43C1-95F3-B2456376724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31</a:t>
            </a:fld>
            <a:endParaRPr lang="en-US" dirty="0"/>
          </a:p>
        </p:txBody>
      </p:sp>
      <p:pic>
        <p:nvPicPr>
          <p:cNvPr id="10" name="Picture 9" descr="A screenshot of a cell phone&#10;&#10;Description automatically generated">
            <a:extLst>
              <a:ext uri="{FF2B5EF4-FFF2-40B4-BE49-F238E27FC236}">
                <a16:creationId xmlns:a16="http://schemas.microsoft.com/office/drawing/2014/main" id="{10BC0748-9E6E-4007-8992-EF1C302540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8455" y="1690688"/>
            <a:ext cx="7555090" cy="372883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0616307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466498-E75E-4464-AB01-F2DCE13BD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Conclusion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76709-FADD-437A-9DB9-64B820E0DF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arenR"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r>
              <a:rPr lang="en-GB" sz="2400" dirty="0"/>
              <a:t>According to theory Shap is optimal linear explainer</a:t>
            </a:r>
          </a:p>
          <a:p>
            <a:r>
              <a:rPr lang="en-GB" sz="2400" dirty="0"/>
              <a:t>Experiments show that Lime may still outperform Shap in certain circumstances</a:t>
            </a:r>
          </a:p>
          <a:p>
            <a:pPr lvl="1"/>
            <a:r>
              <a:rPr lang="en-GB" sz="2000" dirty="0"/>
              <a:t>For decision tree models</a:t>
            </a:r>
          </a:p>
          <a:p>
            <a:pPr lvl="1"/>
            <a:r>
              <a:rPr lang="en-GB" sz="2000" dirty="0"/>
              <a:t>For real-world dataset the quality of Lime was similar to Shap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921614-080E-47F4-93DB-785F27AC64D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32</a:t>
            </a:fld>
            <a:endParaRPr lang="en-US" dirty="0"/>
          </a:p>
        </p:txBody>
      </p:sp>
      <p:pic>
        <p:nvPicPr>
          <p:cNvPr id="5" name="Graphic 4" descr="Magnifying glass">
            <a:extLst>
              <a:ext uri="{FF2B5EF4-FFF2-40B4-BE49-F238E27FC236}">
                <a16:creationId xmlns:a16="http://schemas.microsoft.com/office/drawing/2014/main" id="{010C3C9D-A159-4875-9420-6A2D17A612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8200" y="1825625"/>
            <a:ext cx="914400" cy="914400"/>
          </a:xfrm>
          <a:prstGeom prst="rect">
            <a:avLst/>
          </a:prstGeom>
        </p:spPr>
      </p:pic>
      <p:sp>
        <p:nvSpPr>
          <p:cNvPr id="6" name="Title 8">
            <a:extLst>
              <a:ext uri="{FF2B5EF4-FFF2-40B4-BE49-F238E27FC236}">
                <a16:creationId xmlns:a16="http://schemas.microsoft.com/office/drawing/2014/main" id="{221A2C7F-136B-41DB-8C43-B4162B1F8893}"/>
              </a:ext>
            </a:extLst>
          </p:cNvPr>
          <p:cNvSpPr txBox="1">
            <a:spLocks/>
          </p:cNvSpPr>
          <p:nvPr/>
        </p:nvSpPr>
        <p:spPr>
          <a:xfrm>
            <a:off x="1752600" y="1904164"/>
            <a:ext cx="5156760" cy="110773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>
                <a:latin typeface="+mn-lt"/>
              </a:rPr>
              <a:t>“How can Lime and </a:t>
            </a:r>
            <a:r>
              <a:rPr lang="en-US" sz="2400" dirty="0" err="1">
                <a:latin typeface="+mn-lt"/>
              </a:rPr>
              <a:t>Shap</a:t>
            </a:r>
            <a:r>
              <a:rPr lang="en-US" sz="2400" dirty="0">
                <a:latin typeface="+mn-lt"/>
              </a:rPr>
              <a:t> be evaluated, and how do they compare?”</a:t>
            </a:r>
          </a:p>
        </p:txBody>
      </p:sp>
    </p:spTree>
    <p:extLst>
      <p:ext uri="{BB962C8B-B14F-4D97-AF65-F5344CB8AC3E}">
        <p14:creationId xmlns:p14="http://schemas.microsoft.com/office/powerpoint/2010/main" val="137415483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466498-E75E-4464-AB01-F2DCE13BD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Conclusion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76709-FADD-437A-9DB9-64B820E0DF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arenR" startAt="2"/>
            </a:pPr>
            <a:endParaRPr lang="en-GB" dirty="0"/>
          </a:p>
          <a:p>
            <a:endParaRPr lang="en-GB" sz="2400" dirty="0"/>
          </a:p>
          <a:p>
            <a:endParaRPr lang="en-GB" sz="2400" dirty="0"/>
          </a:p>
          <a:p>
            <a:r>
              <a:rPr lang="en-GB" sz="2400" dirty="0"/>
              <a:t>Faithfulness is unfit for explanations of less than 2 features</a:t>
            </a:r>
          </a:p>
          <a:p>
            <a:r>
              <a:rPr lang="en-GB" sz="2400" dirty="0"/>
              <a:t>Shows undesirable behaviour when</a:t>
            </a:r>
          </a:p>
          <a:p>
            <a:pPr lvl="1"/>
            <a:r>
              <a:rPr lang="en-GB" sz="2000" dirty="0"/>
              <a:t>wrong features are included, and</a:t>
            </a:r>
          </a:p>
          <a:p>
            <a:pPr lvl="1"/>
            <a:r>
              <a:rPr lang="en-GB" sz="2000" dirty="0"/>
              <a:t>tiny attribution values are assigned</a:t>
            </a:r>
          </a:p>
          <a:p>
            <a:r>
              <a:rPr lang="en-GB" sz="2400" dirty="0"/>
              <a:t>Faithfulness is inadmissible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921614-080E-47F4-93DB-785F27AC64D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33</a:t>
            </a:fld>
            <a:endParaRPr lang="en-US" dirty="0"/>
          </a:p>
        </p:txBody>
      </p:sp>
      <p:pic>
        <p:nvPicPr>
          <p:cNvPr id="5" name="Graphic 4" descr="Magnifying glass">
            <a:extLst>
              <a:ext uri="{FF2B5EF4-FFF2-40B4-BE49-F238E27FC236}">
                <a16:creationId xmlns:a16="http://schemas.microsoft.com/office/drawing/2014/main" id="{4A24A1B2-60F8-4DDC-83EA-DB33638EFB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8200" y="1825625"/>
            <a:ext cx="914400" cy="914400"/>
          </a:xfrm>
          <a:prstGeom prst="rect">
            <a:avLst/>
          </a:prstGeom>
        </p:spPr>
      </p:pic>
      <p:sp>
        <p:nvSpPr>
          <p:cNvPr id="6" name="Title 8">
            <a:extLst>
              <a:ext uri="{FF2B5EF4-FFF2-40B4-BE49-F238E27FC236}">
                <a16:creationId xmlns:a16="http://schemas.microsoft.com/office/drawing/2014/main" id="{37DF6CA3-A751-4AD5-87DD-3437E622C047}"/>
              </a:ext>
            </a:extLst>
          </p:cNvPr>
          <p:cNvSpPr txBox="1">
            <a:spLocks/>
          </p:cNvSpPr>
          <p:nvPr/>
        </p:nvSpPr>
        <p:spPr>
          <a:xfrm>
            <a:off x="1752600" y="1904164"/>
            <a:ext cx="5156760" cy="110773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>
                <a:latin typeface="+mn-lt"/>
              </a:rPr>
              <a:t>“How can Lime and </a:t>
            </a:r>
            <a:r>
              <a:rPr lang="en-US" sz="2400" dirty="0" err="1">
                <a:latin typeface="+mn-lt"/>
              </a:rPr>
              <a:t>Shap</a:t>
            </a:r>
            <a:r>
              <a:rPr lang="en-US" sz="2400" dirty="0">
                <a:latin typeface="+mn-lt"/>
              </a:rPr>
              <a:t> be evaluated, and how do they compare?”</a:t>
            </a:r>
          </a:p>
        </p:txBody>
      </p:sp>
    </p:spTree>
    <p:extLst>
      <p:ext uri="{BB962C8B-B14F-4D97-AF65-F5344CB8AC3E}">
        <p14:creationId xmlns:p14="http://schemas.microsoft.com/office/powerpoint/2010/main" val="31883180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466498-E75E-4464-AB01-F2DCE13BD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76709-FADD-437A-9DB9-64B820E0DF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8425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Explanation methods provide a powerful tool to gain insight into black box models. </a:t>
            </a:r>
          </a:p>
          <a:p>
            <a:pPr marL="0" indent="0">
              <a:buNone/>
            </a:pPr>
            <a:r>
              <a:rPr lang="en-GB" dirty="0"/>
              <a:t>However:</a:t>
            </a:r>
          </a:p>
          <a:p>
            <a:r>
              <a:rPr lang="en-GB" dirty="0"/>
              <a:t>Evaluation has not yet reached consensus</a:t>
            </a:r>
          </a:p>
          <a:p>
            <a:r>
              <a:rPr lang="en-GB" dirty="0"/>
              <a:t>Explanations may be inaccurate to model for an instance</a:t>
            </a:r>
          </a:p>
          <a:p>
            <a:pPr marL="0" indent="0">
              <a:buNone/>
            </a:pPr>
            <a:endParaRPr lang="en-GB" sz="1600" dirty="0"/>
          </a:p>
          <a:p>
            <a:pPr marL="0" indent="0">
              <a:buNone/>
            </a:pPr>
            <a:r>
              <a:rPr lang="en-GB" dirty="0"/>
              <a:t>Thus, the use of explanation methods is advised if used with discretion.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921614-080E-47F4-93DB-785F27AC64D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91553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9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72483A1-64B6-CD40-A3EC-DC33036ACA34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>
          <a:xfrm flipH="1">
            <a:off x="11449455" y="6537474"/>
            <a:ext cx="383630" cy="135700"/>
          </a:xfrm>
        </p:spPr>
        <p:txBody>
          <a:bodyPr/>
          <a:lstStyle/>
          <a:p>
            <a:fld id="{90CBDC3A-D49F-4631-A8C7-55D59B33E5FA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26" name="Title 25">
            <a:extLst>
              <a:ext uri="{FF2B5EF4-FFF2-40B4-BE49-F238E27FC236}">
                <a16:creationId xmlns:a16="http://schemas.microsoft.com/office/drawing/2014/main" id="{38CB3D8A-940A-304B-9647-4026C3D1B3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2021" y="2652012"/>
            <a:ext cx="7394112" cy="850033"/>
          </a:xfrm>
        </p:spPr>
        <p:txBody>
          <a:bodyPr/>
          <a:lstStyle/>
          <a:p>
            <a:r>
              <a:rPr lang="en-US" dirty="0"/>
              <a:t>Discussion &amp;</a:t>
            </a:r>
            <a:br>
              <a:rPr lang="en-US" dirty="0"/>
            </a:br>
            <a:r>
              <a:rPr lang="en-US" dirty="0"/>
              <a:t>Future work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91F1447-D104-42AB-8D11-DB317860CB84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972505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466498-E75E-4464-AB01-F2DCE13BD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Discussion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76709-FADD-437A-9DB9-64B820E0DF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NDCG </a:t>
            </a:r>
            <a:r>
              <a:rPr lang="en-GB" dirty="0"/>
              <a:t>metric can not always be applied</a:t>
            </a:r>
          </a:p>
          <a:p>
            <a:r>
              <a:rPr lang="en-GB" dirty="0"/>
              <a:t>Faithfulness includes attribution values</a:t>
            </a:r>
          </a:p>
          <a:p>
            <a:r>
              <a:rPr lang="en-GB" dirty="0"/>
              <a:t>Computational effort and speed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921614-080E-47F4-93DB-785F27AC64D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781990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466498-E75E-4464-AB01-F2DCE13BD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76709-FADD-437A-9DB9-64B820E0DF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Reach consensus in evaluation of (linear) explainers</a:t>
            </a:r>
          </a:p>
          <a:p>
            <a:r>
              <a:rPr lang="en-GB" dirty="0"/>
              <a:t>Test to determine ‘optimal’ number of features in explanation</a:t>
            </a:r>
          </a:p>
          <a:p>
            <a:r>
              <a:rPr lang="en-GB" dirty="0"/>
              <a:t>Provide user with the local inaccuracy information</a:t>
            </a:r>
          </a:p>
          <a:p>
            <a:r>
              <a:rPr lang="en-GB" dirty="0"/>
              <a:t>Lime with different explanation model, such as decision tree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921614-080E-47F4-93DB-785F27AC64D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432846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A6E59192-557A-46EA-A98B-4A8D3DD60B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0495" y="1499449"/>
            <a:ext cx="7998645" cy="385910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F224F0A-C582-495D-AF89-AF51E1A5C26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691" y="975179"/>
            <a:ext cx="2643341" cy="764091"/>
          </a:xfrm>
          <a:prstGeom prst="rect">
            <a:avLst/>
          </a:prstGeom>
        </p:spPr>
      </p:pic>
      <p:pic>
        <p:nvPicPr>
          <p:cNvPr id="7" name="Acc_DigitalBLACK">
            <a:extLst>
              <a:ext uri="{FF2B5EF4-FFF2-40B4-BE49-F238E27FC236}">
                <a16:creationId xmlns:a16="http://schemas.microsoft.com/office/drawing/2014/main" id="{0654672C-C36C-493B-83D7-A9F02BCE54ED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5691" y="1987048"/>
            <a:ext cx="2579389" cy="499527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D2519A2-9453-4015-991D-3302FE310A16}"/>
              </a:ext>
            </a:extLst>
          </p:cNvPr>
          <p:cNvCxnSpPr/>
          <p:nvPr/>
        </p:nvCxnSpPr>
        <p:spPr>
          <a:xfrm>
            <a:off x="4076236" y="1619693"/>
            <a:ext cx="0" cy="3618614"/>
          </a:xfrm>
          <a:prstGeom prst="line">
            <a:avLst/>
          </a:prstGeom>
          <a:ln w="57150" cmpd="sng">
            <a:solidFill>
              <a:schemeClr val="tx1"/>
            </a:solidFill>
            <a:prstDash val="solid"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3398762C-B883-4E7C-952A-21179167CEDD}"/>
              </a:ext>
            </a:extLst>
          </p:cNvPr>
          <p:cNvSpPr/>
          <p:nvPr/>
        </p:nvSpPr>
        <p:spPr>
          <a:xfrm>
            <a:off x="733160" y="4670076"/>
            <a:ext cx="2796847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000" dirty="0">
                <a:latin typeface="Graphik Black"/>
              </a:rPr>
              <a:t>Author	 Marnix Maas</a:t>
            </a:r>
          </a:p>
          <a:p>
            <a:r>
              <a:rPr lang="en-GB" sz="2000" dirty="0">
                <a:latin typeface="Graphik Black"/>
              </a:rPr>
              <a:t>Date 	 6</a:t>
            </a:r>
            <a:r>
              <a:rPr lang="en-GB" sz="2000" baseline="30000" dirty="0">
                <a:latin typeface="Graphik Black"/>
              </a:rPr>
              <a:t>th</a:t>
            </a:r>
            <a:r>
              <a:rPr lang="en-GB" sz="2000" dirty="0">
                <a:latin typeface="Graphik Black"/>
              </a:rPr>
              <a:t> March 2020</a:t>
            </a:r>
          </a:p>
        </p:txBody>
      </p:sp>
    </p:spTree>
    <p:extLst>
      <p:ext uri="{BB962C8B-B14F-4D97-AF65-F5344CB8AC3E}">
        <p14:creationId xmlns:p14="http://schemas.microsoft.com/office/powerpoint/2010/main" val="267605619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9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72483A1-64B6-CD40-A3EC-DC33036ACA34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>
          <a:xfrm flipH="1">
            <a:off x="11449455" y="6537474"/>
            <a:ext cx="383630" cy="135700"/>
          </a:xfrm>
        </p:spPr>
        <p:txBody>
          <a:bodyPr/>
          <a:lstStyle/>
          <a:p>
            <a:fld id="{90CBDC3A-D49F-4631-A8C7-55D59B33E5FA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26" name="Title 25">
            <a:extLst>
              <a:ext uri="{FF2B5EF4-FFF2-40B4-BE49-F238E27FC236}">
                <a16:creationId xmlns:a16="http://schemas.microsoft.com/office/drawing/2014/main" id="{38CB3D8A-940A-304B-9647-4026C3D1B3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2021" y="2652012"/>
            <a:ext cx="7394112" cy="850033"/>
          </a:xfrm>
        </p:spPr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91F1447-D104-42AB-8D11-DB317860CB84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804067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69067-FA62-4C5E-917B-6E4A055B9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References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307B9D-04F7-42A9-988A-B8EBEE117B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nl-NL" sz="2600" dirty="0"/>
              <a:t>[1] </a:t>
            </a:r>
            <a:r>
              <a:rPr lang="en-GB" sz="2600" dirty="0"/>
              <a:t>Ribeiro, M. T., Singh, S., &amp; </a:t>
            </a:r>
            <a:r>
              <a:rPr lang="en-GB" sz="2600" dirty="0" err="1"/>
              <a:t>Guestrin</a:t>
            </a:r>
            <a:r>
              <a:rPr lang="en-GB" sz="2600" dirty="0"/>
              <a:t>, C. (2016). “Why should </a:t>
            </a:r>
            <a:r>
              <a:rPr lang="en-GB" sz="2600" dirty="0" err="1"/>
              <a:t>i</a:t>
            </a:r>
            <a:r>
              <a:rPr lang="en-GB" sz="2600" dirty="0"/>
              <a:t> trust</a:t>
            </a:r>
            <a:br>
              <a:rPr lang="en-GB" sz="2600" dirty="0"/>
            </a:br>
            <a:r>
              <a:rPr lang="en-GB" sz="2600" dirty="0"/>
              <a:t>you?” Explaining the predictions of any classifier. </a:t>
            </a:r>
          </a:p>
          <a:p>
            <a:pPr marL="0" indent="0">
              <a:buNone/>
            </a:pPr>
            <a:r>
              <a:rPr lang="en-GB" sz="2600" dirty="0"/>
              <a:t>[2] Lundberg, S. M., &amp; Lee, S. I. (2017). A unified approach to interpreting model predictions.</a:t>
            </a:r>
          </a:p>
          <a:p>
            <a:pPr marL="0" indent="0">
              <a:buNone/>
            </a:pPr>
            <a:r>
              <a:rPr lang="en-GB" sz="2600" dirty="0"/>
              <a:t>[3] Shapley, L. S. (1953). A value for n-person games.</a:t>
            </a:r>
          </a:p>
          <a:p>
            <a:pPr marL="0" indent="0">
              <a:buNone/>
            </a:pPr>
            <a:r>
              <a:rPr lang="en-GB" sz="2600" dirty="0"/>
              <a:t>[4] Arya, V., Bellamy, R. K. E., Chen, P.-Y., </a:t>
            </a:r>
            <a:r>
              <a:rPr lang="en-GB" sz="2600" dirty="0" err="1"/>
              <a:t>Dhurandhar</a:t>
            </a:r>
            <a:r>
              <a:rPr lang="en-GB" sz="2600" dirty="0"/>
              <a:t>, A., Hind, M., Hoffman, S. C., </a:t>
            </a:r>
            <a:r>
              <a:rPr lang="en-GB" sz="2600" dirty="0" err="1"/>
              <a:t>Houde</a:t>
            </a:r>
            <a:r>
              <a:rPr lang="en-GB" sz="2600" dirty="0"/>
              <a:t>, S., Liao, Q., </a:t>
            </a:r>
            <a:r>
              <a:rPr lang="en-GB" sz="2600" dirty="0" err="1"/>
              <a:t>Luss</a:t>
            </a:r>
            <a:r>
              <a:rPr lang="en-GB" sz="2600" dirty="0"/>
              <a:t>, R., </a:t>
            </a:r>
            <a:r>
              <a:rPr lang="en-GB" sz="2600" dirty="0" err="1"/>
              <a:t>Mojsilovic</a:t>
            </a:r>
            <a:r>
              <a:rPr lang="en-GB" sz="2600" dirty="0"/>
              <a:t>, A., Mourad, S., Pedemonte, P., Raghavendra, R., Richards, J., </a:t>
            </a:r>
            <a:r>
              <a:rPr lang="en-GB" sz="2600" dirty="0" err="1"/>
              <a:t>Sattigeri</a:t>
            </a:r>
            <a:r>
              <a:rPr lang="en-GB" sz="2600" dirty="0"/>
              <a:t>, P., Shanmugam, K., Singh, M., </a:t>
            </a:r>
            <a:r>
              <a:rPr lang="en-GB" sz="2600" dirty="0" err="1"/>
              <a:t>Varschney</a:t>
            </a:r>
            <a:r>
              <a:rPr lang="en-GB" sz="2600" dirty="0"/>
              <a:t>, K., Wei, D., &amp; Zhang, Y. (2019). One Explanation Does Not Fit All: A Toolkit and Taxonomy of AI </a:t>
            </a:r>
            <a:r>
              <a:rPr lang="en-GB" sz="2600" dirty="0" err="1"/>
              <a:t>Explainability</a:t>
            </a:r>
            <a:r>
              <a:rPr lang="en-GB" sz="2600" dirty="0"/>
              <a:t> Techniques.</a:t>
            </a:r>
            <a:br>
              <a:rPr lang="en-GB" dirty="0"/>
            </a:b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0D7AD2-F33B-484D-B26A-0B53649A656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94470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469</TotalTime>
  <Words>1351</Words>
  <Application>Microsoft Office PowerPoint</Application>
  <PresentationFormat>Widescreen</PresentationFormat>
  <Paragraphs>315</Paragraphs>
  <Slides>40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8" baseType="lpstr">
      <vt:lpstr>Arial</vt:lpstr>
      <vt:lpstr>Arial Black</vt:lpstr>
      <vt:lpstr>Calibri</vt:lpstr>
      <vt:lpstr>Calibri Light</vt:lpstr>
      <vt:lpstr>Graphik</vt:lpstr>
      <vt:lpstr>Graphik Black</vt:lpstr>
      <vt:lpstr>Graphik Regular</vt:lpstr>
      <vt:lpstr>Office Theme</vt:lpstr>
      <vt:lpstr>PowerPoint Presentation</vt:lpstr>
      <vt:lpstr>PowerPoint Presentation</vt:lpstr>
      <vt:lpstr>“The degree of understanding 1) output 2) inner workings  of the model”</vt:lpstr>
      <vt:lpstr>Do we need to understand the inner workings of a predictive model? </vt:lpstr>
      <vt:lpstr>PowerPoint Presentation</vt:lpstr>
      <vt:lpstr>PowerPoint Presentation</vt:lpstr>
      <vt:lpstr>PowerPoint Presentation</vt:lpstr>
      <vt:lpstr>Methods</vt:lpstr>
      <vt:lpstr>Additive feature attribution methods</vt:lpstr>
      <vt:lpstr>Perturbation</vt:lpstr>
      <vt:lpstr>Lime [1] </vt:lpstr>
      <vt:lpstr>Lime</vt:lpstr>
      <vt:lpstr>Shap [2]</vt:lpstr>
      <vt:lpstr>Shap</vt:lpstr>
      <vt:lpstr>NDCG</vt:lpstr>
      <vt:lpstr>Faithfulness [4]</vt:lpstr>
      <vt:lpstr>Synthetic data generation</vt:lpstr>
      <vt:lpstr>Experimental setup</vt:lpstr>
      <vt:lpstr>Simulated user experiments</vt:lpstr>
      <vt:lpstr>Data</vt:lpstr>
      <vt:lpstr>Lime experiment 5.2   ”Are explanations faithful to the model”</vt:lpstr>
      <vt:lpstr>Lime experiment 5.2 </vt:lpstr>
      <vt:lpstr>Experiment 5.2 - improvements</vt:lpstr>
      <vt:lpstr>Lime experiment 5.3   ”Should I trust this prediction”</vt:lpstr>
      <vt:lpstr>Lime experiment 5.3</vt:lpstr>
      <vt:lpstr>Experiment 5.3 - improvements</vt:lpstr>
      <vt:lpstr>Results &amp; Conclusion</vt:lpstr>
      <vt:lpstr>Experiment 5.2 - NDCG</vt:lpstr>
      <vt:lpstr>Experiment 5.2 - Faithfulness</vt:lpstr>
      <vt:lpstr>Experiment 5.3 - Adjusted F1</vt:lpstr>
      <vt:lpstr>Experiment 5.3 - Adjusted F1</vt:lpstr>
      <vt:lpstr>Conclusion</vt:lpstr>
      <vt:lpstr>Conclusion</vt:lpstr>
      <vt:lpstr>Conclusion</vt:lpstr>
      <vt:lpstr>Discussion &amp; Future work</vt:lpstr>
      <vt:lpstr>Discussion</vt:lpstr>
      <vt:lpstr>Future work</vt:lpstr>
      <vt:lpstr>PowerPoint Presentation</vt:lpstr>
      <vt:lpstr>References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Maas, Marnix</dc:creator>
  <cp:lastModifiedBy>marnix maas</cp:lastModifiedBy>
  <cp:revision>14</cp:revision>
  <dcterms:created xsi:type="dcterms:W3CDTF">2020-03-02T12:37:50Z</dcterms:created>
  <dcterms:modified xsi:type="dcterms:W3CDTF">2020-03-05T17:06:42Z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bc0f418-96a4-4caf-9d7c-ccc5ec7f9d91_Enabled">
    <vt:lpwstr>true</vt:lpwstr>
  </property>
  <property fmtid="{D5CDD505-2E9C-101B-9397-08002B2CF9AE}" pid="3" name="MSIP_Label_1bc0f418-96a4-4caf-9d7c-ccc5ec7f9d91_SetDate">
    <vt:lpwstr>2020-03-02T12:37:57Z</vt:lpwstr>
  </property>
  <property fmtid="{D5CDD505-2E9C-101B-9397-08002B2CF9AE}" pid="4" name="MSIP_Label_1bc0f418-96a4-4caf-9d7c-ccc5ec7f9d91_Method">
    <vt:lpwstr>Privileged</vt:lpwstr>
  </property>
  <property fmtid="{D5CDD505-2E9C-101B-9397-08002B2CF9AE}" pid="5" name="MSIP_Label_1bc0f418-96a4-4caf-9d7c-ccc5ec7f9d91_Name">
    <vt:lpwstr>1bc0f418-96a4-4caf-9d7c-ccc5ec7f9d91</vt:lpwstr>
  </property>
  <property fmtid="{D5CDD505-2E9C-101B-9397-08002B2CF9AE}" pid="6" name="MSIP_Label_1bc0f418-96a4-4caf-9d7c-ccc5ec7f9d91_SiteId">
    <vt:lpwstr>e0793d39-0939-496d-b129-198edd916feb</vt:lpwstr>
  </property>
  <property fmtid="{D5CDD505-2E9C-101B-9397-08002B2CF9AE}" pid="7" name="MSIP_Label_1bc0f418-96a4-4caf-9d7c-ccc5ec7f9d91_ActionId">
    <vt:lpwstr>c6e29536-9639-4cb5-9c41-0000482e5967</vt:lpwstr>
  </property>
  <property fmtid="{D5CDD505-2E9C-101B-9397-08002B2CF9AE}" pid="8" name="MSIP_Label_1bc0f418-96a4-4caf-9d7c-ccc5ec7f9d91_ContentBits">
    <vt:lpwstr>0</vt:lpwstr>
  </property>
</Properties>
</file>